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8" r:id="rId3"/>
    <p:sldId id="258" r:id="rId4"/>
    <p:sldId id="279" r:id="rId5"/>
    <p:sldId id="260" r:id="rId6"/>
    <p:sldId id="261" r:id="rId7"/>
    <p:sldId id="262" r:id="rId8"/>
    <p:sldId id="281" r:id="rId9"/>
    <p:sldId id="285" r:id="rId10"/>
    <p:sldId id="283" r:id="rId11"/>
    <p:sldId id="275" r:id="rId12"/>
    <p:sldId id="277" r:id="rId13"/>
    <p:sldId id="286" r:id="rId14"/>
    <p:sldId id="266" r:id="rId15"/>
    <p:sldId id="268" r:id="rId16"/>
    <p:sldId id="270" r:id="rId17"/>
    <p:sldId id="272" r:id="rId18"/>
    <p:sldId id="273" r:id="rId19"/>
    <p:sldId id="274" r:id="rId20"/>
    <p:sldId id="271"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BCBD9-A058-879B-C12A-D5FB9A6F9906}" v="246" dt="2025-01-22T16:51:56.3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4D1100-3AFE-4A89-BCD1-07F15E40EF56}" type="doc">
      <dgm:prSet loTypeId="urn:microsoft.com/office/officeart/2016/7/layout/VerticalSolidActionList" loCatId="List" qsTypeId="urn:microsoft.com/office/officeart/2005/8/quickstyle/simple1" qsCatId="simple" csTypeId="urn:microsoft.com/office/officeart/2005/8/colors/accent2_2" csCatId="accent2" phldr="1"/>
      <dgm:spPr/>
      <dgm:t>
        <a:bodyPr/>
        <a:lstStyle/>
        <a:p>
          <a:endParaRPr lang="en-US"/>
        </a:p>
      </dgm:t>
    </dgm:pt>
    <dgm:pt modelId="{AB343731-8606-4409-BCB2-1E2632CF4125}">
      <dgm:prSet/>
      <dgm:spPr/>
      <dgm:t>
        <a:bodyPr/>
        <a:lstStyle/>
        <a:p>
          <a:pPr>
            <a:defRPr b="1"/>
          </a:pPr>
          <a:r>
            <a:rPr lang="en-US" dirty="0">
              <a:latin typeface="Avenir Next LT Pro"/>
            </a:rPr>
            <a:t>Assess</a:t>
          </a:r>
        </a:p>
      </dgm:t>
    </dgm:pt>
    <dgm:pt modelId="{9EFB433D-FAFB-43DA-B704-6B8695B77D0F}" type="parTrans" cxnId="{F6F2A5F0-A562-46C2-A1A3-DD4EF0D72776}">
      <dgm:prSet/>
      <dgm:spPr/>
      <dgm:t>
        <a:bodyPr/>
        <a:lstStyle/>
        <a:p>
          <a:endParaRPr lang="en-US"/>
        </a:p>
      </dgm:t>
    </dgm:pt>
    <dgm:pt modelId="{32E3F85B-4416-4AED-A916-F3B74281CC0A}" type="sibTrans" cxnId="{F6F2A5F0-A562-46C2-A1A3-DD4EF0D72776}">
      <dgm:prSet/>
      <dgm:spPr/>
      <dgm:t>
        <a:bodyPr/>
        <a:lstStyle/>
        <a:p>
          <a:endParaRPr lang="en-US"/>
        </a:p>
      </dgm:t>
    </dgm:pt>
    <dgm:pt modelId="{9E84388D-E440-43C4-9742-81036E03285A}">
      <dgm:prSet/>
      <dgm:spPr/>
      <dgm:t>
        <a:bodyPr/>
        <a:lstStyle/>
        <a:p>
          <a:r>
            <a:rPr lang="en-US" dirty="0">
              <a:latin typeface="Aptos Display" panose="020F0302020204030204"/>
            </a:rPr>
            <a:t>Ticket</a:t>
          </a:r>
          <a:r>
            <a:rPr lang="en-US" dirty="0">
              <a:latin typeface="Avenir Next LT Pro"/>
            </a:rPr>
            <a:t> Performance: Investigate resolution times, satisfaction rates, and agent productivity.</a:t>
          </a:r>
        </a:p>
      </dgm:t>
    </dgm:pt>
    <dgm:pt modelId="{13EA7893-E35D-4988-9556-F6B72972DD27}" type="parTrans" cxnId="{1AE44C65-B4FF-43D9-8698-B4BACC94EDC9}">
      <dgm:prSet/>
      <dgm:spPr/>
      <dgm:t>
        <a:bodyPr/>
        <a:lstStyle/>
        <a:p>
          <a:endParaRPr lang="en-US"/>
        </a:p>
      </dgm:t>
    </dgm:pt>
    <dgm:pt modelId="{5CF6C8CD-CE0D-4221-AF4C-67481D51E7A6}" type="sibTrans" cxnId="{1AE44C65-B4FF-43D9-8698-B4BACC94EDC9}">
      <dgm:prSet/>
      <dgm:spPr/>
      <dgm:t>
        <a:bodyPr/>
        <a:lstStyle/>
        <a:p>
          <a:endParaRPr lang="en-US"/>
        </a:p>
      </dgm:t>
    </dgm:pt>
    <dgm:pt modelId="{6DC5D36F-9944-4EA3-8271-EB2B9CDBFD3E}">
      <dgm:prSet/>
      <dgm:spPr/>
      <dgm:t>
        <a:bodyPr/>
        <a:lstStyle/>
        <a:p>
          <a:pPr>
            <a:defRPr b="1"/>
          </a:pPr>
          <a:r>
            <a:rPr lang="en-US" dirty="0"/>
            <a:t>Improve</a:t>
          </a:r>
        </a:p>
      </dgm:t>
    </dgm:pt>
    <dgm:pt modelId="{7EA199A5-80F1-4B8F-AC1F-3B3BAEA30BC4}" type="parTrans" cxnId="{85199F56-3D53-4533-B0B1-5CD6C8A0F3F5}">
      <dgm:prSet/>
      <dgm:spPr/>
      <dgm:t>
        <a:bodyPr/>
        <a:lstStyle/>
        <a:p>
          <a:endParaRPr lang="en-US"/>
        </a:p>
      </dgm:t>
    </dgm:pt>
    <dgm:pt modelId="{E00F1414-AA63-45C2-AA8F-7BDC9F94388B}" type="sibTrans" cxnId="{85199F56-3D53-4533-B0B1-5CD6C8A0F3F5}">
      <dgm:prSet/>
      <dgm:spPr/>
      <dgm:t>
        <a:bodyPr/>
        <a:lstStyle/>
        <a:p>
          <a:endParaRPr lang="en-US"/>
        </a:p>
      </dgm:t>
    </dgm:pt>
    <dgm:pt modelId="{66835EB2-287C-41A7-AB9A-849B48603CBE}">
      <dgm:prSet/>
      <dgm:spPr/>
      <dgm:t>
        <a:bodyPr/>
        <a:lstStyle/>
        <a:p>
          <a:r>
            <a:rPr lang="en-US" dirty="0"/>
            <a:t>Operational Efficiency</a:t>
          </a:r>
          <a:r>
            <a:rPr lang="en-US" dirty="0">
              <a:latin typeface="Aptos Display" panose="020F0302020204030204"/>
            </a:rPr>
            <a:t> : </a:t>
          </a:r>
          <a:r>
            <a:rPr lang="en-US" dirty="0"/>
            <a:t>Identify the impact of ticket resolution on overall business performance.</a:t>
          </a:r>
        </a:p>
      </dgm:t>
    </dgm:pt>
    <dgm:pt modelId="{E98DDFEE-B03C-4EC2-8848-5BEABB1239A8}" type="parTrans" cxnId="{A0AB9EF4-9F94-438C-9115-BBA6FA53C13A}">
      <dgm:prSet/>
      <dgm:spPr/>
      <dgm:t>
        <a:bodyPr/>
        <a:lstStyle/>
        <a:p>
          <a:endParaRPr lang="en-US"/>
        </a:p>
      </dgm:t>
    </dgm:pt>
    <dgm:pt modelId="{1F979EBF-96E2-4D39-AEFB-839815C114FD}" type="sibTrans" cxnId="{A0AB9EF4-9F94-438C-9115-BBA6FA53C13A}">
      <dgm:prSet/>
      <dgm:spPr/>
      <dgm:t>
        <a:bodyPr/>
        <a:lstStyle/>
        <a:p>
          <a:endParaRPr lang="en-US"/>
        </a:p>
      </dgm:t>
    </dgm:pt>
    <dgm:pt modelId="{ED5E8BB5-A7E5-498D-A598-FD7F3E07B6CF}">
      <dgm:prSet/>
      <dgm:spPr/>
      <dgm:t>
        <a:bodyPr/>
        <a:lstStyle/>
        <a:p>
          <a:pPr>
            <a:defRPr b="1"/>
          </a:pPr>
          <a:r>
            <a:rPr lang="en-US" dirty="0"/>
            <a:t>Guide</a:t>
          </a:r>
        </a:p>
      </dgm:t>
    </dgm:pt>
    <dgm:pt modelId="{557A1728-E4B6-44E1-AF74-2321E1248DC4}" type="parTrans" cxnId="{0FE2919D-1C52-4C83-BBAF-5E30BFF93E08}">
      <dgm:prSet/>
      <dgm:spPr/>
      <dgm:t>
        <a:bodyPr/>
        <a:lstStyle/>
        <a:p>
          <a:endParaRPr lang="en-US"/>
        </a:p>
      </dgm:t>
    </dgm:pt>
    <dgm:pt modelId="{D12830AE-A8BD-4B46-BEA5-BD8618E19855}" type="sibTrans" cxnId="{0FE2919D-1C52-4C83-BBAF-5E30BFF93E08}">
      <dgm:prSet/>
      <dgm:spPr/>
      <dgm:t>
        <a:bodyPr/>
        <a:lstStyle/>
        <a:p>
          <a:endParaRPr lang="en-US"/>
        </a:p>
      </dgm:t>
    </dgm:pt>
    <dgm:pt modelId="{9F51C964-E641-44BE-B3B9-1F233FC2B3AA}">
      <dgm:prSet/>
      <dgm:spPr/>
      <dgm:t>
        <a:bodyPr/>
        <a:lstStyle/>
        <a:p>
          <a:r>
            <a:rPr lang="en-US" dirty="0"/>
            <a:t>Strategic Investments: Recommend where to allocate resources—additional staff, training, or system upgrades.</a:t>
          </a:r>
        </a:p>
      </dgm:t>
    </dgm:pt>
    <dgm:pt modelId="{06F77DBB-ACB3-47C7-B35D-66F9617D55A4}" type="parTrans" cxnId="{B904DB80-3E21-4D54-A4E8-051D24C02CEC}">
      <dgm:prSet/>
      <dgm:spPr/>
      <dgm:t>
        <a:bodyPr/>
        <a:lstStyle/>
        <a:p>
          <a:endParaRPr lang="en-US"/>
        </a:p>
      </dgm:t>
    </dgm:pt>
    <dgm:pt modelId="{4D062B58-8051-49F7-9639-DCA38724E06F}" type="sibTrans" cxnId="{B904DB80-3E21-4D54-A4E8-051D24C02CEC}">
      <dgm:prSet/>
      <dgm:spPr/>
      <dgm:t>
        <a:bodyPr/>
        <a:lstStyle/>
        <a:p>
          <a:endParaRPr lang="en-US"/>
        </a:p>
      </dgm:t>
    </dgm:pt>
    <dgm:pt modelId="{E0FD91E5-620D-44AE-B0AA-4367E68D5892}" type="pres">
      <dgm:prSet presAssocID="{7A4D1100-3AFE-4A89-BCD1-07F15E40EF56}" presName="Name0" presStyleCnt="0">
        <dgm:presLayoutVars>
          <dgm:dir/>
          <dgm:animLvl val="lvl"/>
          <dgm:resizeHandles val="exact"/>
        </dgm:presLayoutVars>
      </dgm:prSet>
      <dgm:spPr/>
    </dgm:pt>
    <dgm:pt modelId="{23E71B4B-ACEB-4C44-998E-51E739440980}" type="pres">
      <dgm:prSet presAssocID="{AB343731-8606-4409-BCB2-1E2632CF4125}" presName="linNode" presStyleCnt="0"/>
      <dgm:spPr/>
    </dgm:pt>
    <dgm:pt modelId="{1D4DE080-C877-4224-89E1-7AFB13C4DD01}" type="pres">
      <dgm:prSet presAssocID="{AB343731-8606-4409-BCB2-1E2632CF4125}" presName="parentText" presStyleLbl="alignNode1" presStyleIdx="0" presStyleCnt="3">
        <dgm:presLayoutVars>
          <dgm:chMax val="1"/>
          <dgm:bulletEnabled/>
        </dgm:presLayoutVars>
      </dgm:prSet>
      <dgm:spPr/>
    </dgm:pt>
    <dgm:pt modelId="{C9BB758D-05FC-4D97-8E80-D67AE1E1A181}" type="pres">
      <dgm:prSet presAssocID="{AB343731-8606-4409-BCB2-1E2632CF4125}" presName="descendantText" presStyleLbl="alignAccFollowNode1" presStyleIdx="0" presStyleCnt="3">
        <dgm:presLayoutVars>
          <dgm:bulletEnabled/>
        </dgm:presLayoutVars>
      </dgm:prSet>
      <dgm:spPr/>
    </dgm:pt>
    <dgm:pt modelId="{4C88CFC7-B47A-471D-A907-0761B8472F9F}" type="pres">
      <dgm:prSet presAssocID="{32E3F85B-4416-4AED-A916-F3B74281CC0A}" presName="sp" presStyleCnt="0"/>
      <dgm:spPr/>
    </dgm:pt>
    <dgm:pt modelId="{427FFCFC-DCBA-405B-B8C8-0A1BD0BE04BE}" type="pres">
      <dgm:prSet presAssocID="{6DC5D36F-9944-4EA3-8271-EB2B9CDBFD3E}" presName="linNode" presStyleCnt="0"/>
      <dgm:spPr/>
    </dgm:pt>
    <dgm:pt modelId="{2D2D638D-1B11-40CE-8120-1EFECE88BB0A}" type="pres">
      <dgm:prSet presAssocID="{6DC5D36F-9944-4EA3-8271-EB2B9CDBFD3E}" presName="parentText" presStyleLbl="alignNode1" presStyleIdx="1" presStyleCnt="3">
        <dgm:presLayoutVars>
          <dgm:chMax val="1"/>
          <dgm:bulletEnabled/>
        </dgm:presLayoutVars>
      </dgm:prSet>
      <dgm:spPr/>
    </dgm:pt>
    <dgm:pt modelId="{6E4E623D-18B4-48A9-A68D-25BE24D8077E}" type="pres">
      <dgm:prSet presAssocID="{6DC5D36F-9944-4EA3-8271-EB2B9CDBFD3E}" presName="descendantText" presStyleLbl="alignAccFollowNode1" presStyleIdx="1" presStyleCnt="3">
        <dgm:presLayoutVars>
          <dgm:bulletEnabled/>
        </dgm:presLayoutVars>
      </dgm:prSet>
      <dgm:spPr/>
    </dgm:pt>
    <dgm:pt modelId="{572B838C-181C-4EC7-AD20-734A986AF5AC}" type="pres">
      <dgm:prSet presAssocID="{E00F1414-AA63-45C2-AA8F-7BDC9F94388B}" presName="sp" presStyleCnt="0"/>
      <dgm:spPr/>
    </dgm:pt>
    <dgm:pt modelId="{47C0EF79-D52C-4D81-A4BF-7E301ABBD74C}" type="pres">
      <dgm:prSet presAssocID="{ED5E8BB5-A7E5-498D-A598-FD7F3E07B6CF}" presName="linNode" presStyleCnt="0"/>
      <dgm:spPr/>
    </dgm:pt>
    <dgm:pt modelId="{90951FAE-0753-4926-B9E5-36768EA1234C}" type="pres">
      <dgm:prSet presAssocID="{ED5E8BB5-A7E5-498D-A598-FD7F3E07B6CF}" presName="parentText" presStyleLbl="alignNode1" presStyleIdx="2" presStyleCnt="3">
        <dgm:presLayoutVars>
          <dgm:chMax val="1"/>
          <dgm:bulletEnabled/>
        </dgm:presLayoutVars>
      </dgm:prSet>
      <dgm:spPr/>
    </dgm:pt>
    <dgm:pt modelId="{567CBCD3-4F5A-426D-901A-63218A1F5F2A}" type="pres">
      <dgm:prSet presAssocID="{ED5E8BB5-A7E5-498D-A598-FD7F3E07B6CF}" presName="descendantText" presStyleLbl="alignAccFollowNode1" presStyleIdx="2" presStyleCnt="3">
        <dgm:presLayoutVars>
          <dgm:bulletEnabled/>
        </dgm:presLayoutVars>
      </dgm:prSet>
      <dgm:spPr/>
    </dgm:pt>
  </dgm:ptLst>
  <dgm:cxnLst>
    <dgm:cxn modelId="{EEF37B01-4EE5-4D55-9710-D5EE10D32883}" type="presOf" srcId="{6DC5D36F-9944-4EA3-8271-EB2B9CDBFD3E}" destId="{2D2D638D-1B11-40CE-8120-1EFECE88BB0A}" srcOrd="0" destOrd="0" presId="urn:microsoft.com/office/officeart/2016/7/layout/VerticalSolidActionList"/>
    <dgm:cxn modelId="{4CCCD837-9380-4E25-80F7-FC05573BE94D}" type="presOf" srcId="{7A4D1100-3AFE-4A89-BCD1-07F15E40EF56}" destId="{E0FD91E5-620D-44AE-B0AA-4367E68D5892}" srcOrd="0" destOrd="0" presId="urn:microsoft.com/office/officeart/2016/7/layout/VerticalSolidActionList"/>
    <dgm:cxn modelId="{104E9C44-0488-49CB-974B-12F8FCD94A84}" type="presOf" srcId="{AB343731-8606-4409-BCB2-1E2632CF4125}" destId="{1D4DE080-C877-4224-89E1-7AFB13C4DD01}" srcOrd="0" destOrd="0" presId="urn:microsoft.com/office/officeart/2016/7/layout/VerticalSolidActionList"/>
    <dgm:cxn modelId="{1AE44C65-B4FF-43D9-8698-B4BACC94EDC9}" srcId="{AB343731-8606-4409-BCB2-1E2632CF4125}" destId="{9E84388D-E440-43C4-9742-81036E03285A}" srcOrd="0" destOrd="0" parTransId="{13EA7893-E35D-4988-9556-F6B72972DD27}" sibTransId="{5CF6C8CD-CE0D-4221-AF4C-67481D51E7A6}"/>
    <dgm:cxn modelId="{85199F56-3D53-4533-B0B1-5CD6C8A0F3F5}" srcId="{7A4D1100-3AFE-4A89-BCD1-07F15E40EF56}" destId="{6DC5D36F-9944-4EA3-8271-EB2B9CDBFD3E}" srcOrd="1" destOrd="0" parTransId="{7EA199A5-80F1-4B8F-AC1F-3B3BAEA30BC4}" sibTransId="{E00F1414-AA63-45C2-AA8F-7BDC9F94388B}"/>
    <dgm:cxn modelId="{F911DB7A-4D26-49E9-BB5F-8D3DAAB8CE77}" type="presOf" srcId="{ED5E8BB5-A7E5-498D-A598-FD7F3E07B6CF}" destId="{90951FAE-0753-4926-B9E5-36768EA1234C}" srcOrd="0" destOrd="0" presId="urn:microsoft.com/office/officeart/2016/7/layout/VerticalSolidActionList"/>
    <dgm:cxn modelId="{B904DB80-3E21-4D54-A4E8-051D24C02CEC}" srcId="{ED5E8BB5-A7E5-498D-A598-FD7F3E07B6CF}" destId="{9F51C964-E641-44BE-B3B9-1F233FC2B3AA}" srcOrd="0" destOrd="0" parTransId="{06F77DBB-ACB3-47C7-B35D-66F9617D55A4}" sibTransId="{4D062B58-8051-49F7-9639-DCA38724E06F}"/>
    <dgm:cxn modelId="{0FE2919D-1C52-4C83-BBAF-5E30BFF93E08}" srcId="{7A4D1100-3AFE-4A89-BCD1-07F15E40EF56}" destId="{ED5E8BB5-A7E5-498D-A598-FD7F3E07B6CF}" srcOrd="2" destOrd="0" parTransId="{557A1728-E4B6-44E1-AF74-2321E1248DC4}" sibTransId="{D12830AE-A8BD-4B46-BEA5-BD8618E19855}"/>
    <dgm:cxn modelId="{D558CFB0-3380-4686-BDA6-6A790BDF7349}" type="presOf" srcId="{9E84388D-E440-43C4-9742-81036E03285A}" destId="{C9BB758D-05FC-4D97-8E80-D67AE1E1A181}" srcOrd="0" destOrd="0" presId="urn:microsoft.com/office/officeart/2016/7/layout/VerticalSolidActionList"/>
    <dgm:cxn modelId="{91070FBB-8FF5-49B9-ABD7-218F6542982F}" type="presOf" srcId="{9F51C964-E641-44BE-B3B9-1F233FC2B3AA}" destId="{567CBCD3-4F5A-426D-901A-63218A1F5F2A}" srcOrd="0" destOrd="0" presId="urn:microsoft.com/office/officeart/2016/7/layout/VerticalSolidActionList"/>
    <dgm:cxn modelId="{BCA521DD-2C03-408F-81EB-A31A486B280D}" type="presOf" srcId="{66835EB2-287C-41A7-AB9A-849B48603CBE}" destId="{6E4E623D-18B4-48A9-A68D-25BE24D8077E}" srcOrd="0" destOrd="0" presId="urn:microsoft.com/office/officeart/2016/7/layout/VerticalSolidActionList"/>
    <dgm:cxn modelId="{F6F2A5F0-A562-46C2-A1A3-DD4EF0D72776}" srcId="{7A4D1100-3AFE-4A89-BCD1-07F15E40EF56}" destId="{AB343731-8606-4409-BCB2-1E2632CF4125}" srcOrd="0" destOrd="0" parTransId="{9EFB433D-FAFB-43DA-B704-6B8695B77D0F}" sibTransId="{32E3F85B-4416-4AED-A916-F3B74281CC0A}"/>
    <dgm:cxn modelId="{A0AB9EF4-9F94-438C-9115-BBA6FA53C13A}" srcId="{6DC5D36F-9944-4EA3-8271-EB2B9CDBFD3E}" destId="{66835EB2-287C-41A7-AB9A-849B48603CBE}" srcOrd="0" destOrd="0" parTransId="{E98DDFEE-B03C-4EC2-8848-5BEABB1239A8}" sibTransId="{1F979EBF-96E2-4D39-AEFB-839815C114FD}"/>
    <dgm:cxn modelId="{FAA45999-5353-4D2A-B934-08F60E1FA5AA}" type="presParOf" srcId="{E0FD91E5-620D-44AE-B0AA-4367E68D5892}" destId="{23E71B4B-ACEB-4C44-998E-51E739440980}" srcOrd="0" destOrd="0" presId="urn:microsoft.com/office/officeart/2016/7/layout/VerticalSolidActionList"/>
    <dgm:cxn modelId="{DF1212C5-6E2A-4FDE-9E04-A6A9B610FA3A}" type="presParOf" srcId="{23E71B4B-ACEB-4C44-998E-51E739440980}" destId="{1D4DE080-C877-4224-89E1-7AFB13C4DD01}" srcOrd="0" destOrd="0" presId="urn:microsoft.com/office/officeart/2016/7/layout/VerticalSolidActionList"/>
    <dgm:cxn modelId="{92DDCBE8-6066-42A5-AB0F-CCA9F8EE2D50}" type="presParOf" srcId="{23E71B4B-ACEB-4C44-998E-51E739440980}" destId="{C9BB758D-05FC-4D97-8E80-D67AE1E1A181}" srcOrd="1" destOrd="0" presId="urn:microsoft.com/office/officeart/2016/7/layout/VerticalSolidActionList"/>
    <dgm:cxn modelId="{3DF2C058-B618-4720-BFB8-2FB9C8E0D037}" type="presParOf" srcId="{E0FD91E5-620D-44AE-B0AA-4367E68D5892}" destId="{4C88CFC7-B47A-471D-A907-0761B8472F9F}" srcOrd="1" destOrd="0" presId="urn:microsoft.com/office/officeart/2016/7/layout/VerticalSolidActionList"/>
    <dgm:cxn modelId="{E6146480-EE4E-41C1-A261-A066AE6CFF73}" type="presParOf" srcId="{E0FD91E5-620D-44AE-B0AA-4367E68D5892}" destId="{427FFCFC-DCBA-405B-B8C8-0A1BD0BE04BE}" srcOrd="2" destOrd="0" presId="urn:microsoft.com/office/officeart/2016/7/layout/VerticalSolidActionList"/>
    <dgm:cxn modelId="{4E574104-2A68-4603-A453-0E03090DC7B5}" type="presParOf" srcId="{427FFCFC-DCBA-405B-B8C8-0A1BD0BE04BE}" destId="{2D2D638D-1B11-40CE-8120-1EFECE88BB0A}" srcOrd="0" destOrd="0" presId="urn:microsoft.com/office/officeart/2016/7/layout/VerticalSolidActionList"/>
    <dgm:cxn modelId="{AECDC62D-2D9A-4DCA-B54E-95CD5E3125FD}" type="presParOf" srcId="{427FFCFC-DCBA-405B-B8C8-0A1BD0BE04BE}" destId="{6E4E623D-18B4-48A9-A68D-25BE24D8077E}" srcOrd="1" destOrd="0" presId="urn:microsoft.com/office/officeart/2016/7/layout/VerticalSolidActionList"/>
    <dgm:cxn modelId="{A40F585A-2D17-473B-8186-24C57FF9B430}" type="presParOf" srcId="{E0FD91E5-620D-44AE-B0AA-4367E68D5892}" destId="{572B838C-181C-4EC7-AD20-734A986AF5AC}" srcOrd="3" destOrd="0" presId="urn:microsoft.com/office/officeart/2016/7/layout/VerticalSolidActionList"/>
    <dgm:cxn modelId="{837BE90E-9F69-499A-A6E6-ABAA96AB2101}" type="presParOf" srcId="{E0FD91E5-620D-44AE-B0AA-4367E68D5892}" destId="{47C0EF79-D52C-4D81-A4BF-7E301ABBD74C}" srcOrd="4" destOrd="0" presId="urn:microsoft.com/office/officeart/2016/7/layout/VerticalSolidActionList"/>
    <dgm:cxn modelId="{640D623F-A4D5-460C-B8B3-F4C57E312F55}" type="presParOf" srcId="{47C0EF79-D52C-4D81-A4BF-7E301ABBD74C}" destId="{90951FAE-0753-4926-B9E5-36768EA1234C}" srcOrd="0" destOrd="0" presId="urn:microsoft.com/office/officeart/2016/7/layout/VerticalSolidActionList"/>
    <dgm:cxn modelId="{06B2A444-5CA8-457F-B063-566E7E43139B}" type="presParOf" srcId="{47C0EF79-D52C-4D81-A4BF-7E301ABBD74C}" destId="{567CBCD3-4F5A-426D-901A-63218A1F5F2A}"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B758D-05FC-4D97-8E80-D67AE1E1A181}">
      <dsp:nvSpPr>
        <dsp:cNvPr id="0" name=""/>
        <dsp:cNvSpPr/>
      </dsp:nvSpPr>
      <dsp:spPr>
        <a:xfrm>
          <a:off x="2103120" y="1361"/>
          <a:ext cx="8412480" cy="1395769"/>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525" rIns="163225" bIns="354525"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ptos Display" panose="020F0302020204030204"/>
            </a:rPr>
            <a:t>Ticket</a:t>
          </a:r>
          <a:r>
            <a:rPr lang="en-US" sz="2400" kern="1200" dirty="0">
              <a:latin typeface="Avenir Next LT Pro"/>
            </a:rPr>
            <a:t> Performance: Investigate resolution times, satisfaction rates, and agent productivity.</a:t>
          </a:r>
        </a:p>
      </dsp:txBody>
      <dsp:txXfrm>
        <a:off x="2103120" y="1361"/>
        <a:ext cx="8412480" cy="1395769"/>
      </dsp:txXfrm>
    </dsp:sp>
    <dsp:sp modelId="{1D4DE080-C877-4224-89E1-7AFB13C4DD01}">
      <dsp:nvSpPr>
        <dsp:cNvPr id="0" name=""/>
        <dsp:cNvSpPr/>
      </dsp:nvSpPr>
      <dsp:spPr>
        <a:xfrm>
          <a:off x="0" y="1361"/>
          <a:ext cx="2103120" cy="1395769"/>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871" rIns="111290" bIns="137871" numCol="1" spcCol="1270" anchor="ctr" anchorCtr="0">
          <a:noAutofit/>
        </a:bodyPr>
        <a:lstStyle/>
        <a:p>
          <a:pPr marL="0" lvl="0" indent="0" algn="ctr" defTabSz="1244600">
            <a:lnSpc>
              <a:spcPct val="90000"/>
            </a:lnSpc>
            <a:spcBef>
              <a:spcPct val="0"/>
            </a:spcBef>
            <a:spcAft>
              <a:spcPct val="35000"/>
            </a:spcAft>
            <a:buNone/>
            <a:defRPr b="1"/>
          </a:pPr>
          <a:r>
            <a:rPr lang="en-US" sz="2800" kern="1200" dirty="0">
              <a:latin typeface="Avenir Next LT Pro"/>
            </a:rPr>
            <a:t>Assess</a:t>
          </a:r>
        </a:p>
      </dsp:txBody>
      <dsp:txXfrm>
        <a:off x="0" y="1361"/>
        <a:ext cx="2103120" cy="1395769"/>
      </dsp:txXfrm>
    </dsp:sp>
    <dsp:sp modelId="{6E4E623D-18B4-48A9-A68D-25BE24D8077E}">
      <dsp:nvSpPr>
        <dsp:cNvPr id="0" name=""/>
        <dsp:cNvSpPr/>
      </dsp:nvSpPr>
      <dsp:spPr>
        <a:xfrm>
          <a:off x="2103120" y="1480877"/>
          <a:ext cx="8412480" cy="1395769"/>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525" rIns="163225" bIns="354525" numCol="1" spcCol="1270" anchor="ctr" anchorCtr="0">
          <a:noAutofit/>
        </a:bodyPr>
        <a:lstStyle/>
        <a:p>
          <a:pPr marL="0" lvl="0" indent="0" algn="l" defTabSz="1066800">
            <a:lnSpc>
              <a:spcPct val="90000"/>
            </a:lnSpc>
            <a:spcBef>
              <a:spcPct val="0"/>
            </a:spcBef>
            <a:spcAft>
              <a:spcPct val="35000"/>
            </a:spcAft>
            <a:buNone/>
          </a:pPr>
          <a:r>
            <a:rPr lang="en-US" sz="2400" kern="1200" dirty="0"/>
            <a:t>Operational Efficiency</a:t>
          </a:r>
          <a:r>
            <a:rPr lang="en-US" sz="2400" kern="1200" dirty="0">
              <a:latin typeface="Aptos Display" panose="020F0302020204030204"/>
            </a:rPr>
            <a:t> : </a:t>
          </a:r>
          <a:r>
            <a:rPr lang="en-US" sz="2400" kern="1200" dirty="0"/>
            <a:t>Identify the impact of ticket resolution on overall business performance.</a:t>
          </a:r>
        </a:p>
      </dsp:txBody>
      <dsp:txXfrm>
        <a:off x="2103120" y="1480877"/>
        <a:ext cx="8412480" cy="1395769"/>
      </dsp:txXfrm>
    </dsp:sp>
    <dsp:sp modelId="{2D2D638D-1B11-40CE-8120-1EFECE88BB0A}">
      <dsp:nvSpPr>
        <dsp:cNvPr id="0" name=""/>
        <dsp:cNvSpPr/>
      </dsp:nvSpPr>
      <dsp:spPr>
        <a:xfrm>
          <a:off x="0" y="1480877"/>
          <a:ext cx="2103120" cy="1395769"/>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871" rIns="111290" bIns="137871" numCol="1" spcCol="1270" anchor="ctr" anchorCtr="0">
          <a:noAutofit/>
        </a:bodyPr>
        <a:lstStyle/>
        <a:p>
          <a:pPr marL="0" lvl="0" indent="0" algn="ctr" defTabSz="1244600">
            <a:lnSpc>
              <a:spcPct val="90000"/>
            </a:lnSpc>
            <a:spcBef>
              <a:spcPct val="0"/>
            </a:spcBef>
            <a:spcAft>
              <a:spcPct val="35000"/>
            </a:spcAft>
            <a:buNone/>
            <a:defRPr b="1"/>
          </a:pPr>
          <a:r>
            <a:rPr lang="en-US" sz="2800" kern="1200" dirty="0"/>
            <a:t>Improve</a:t>
          </a:r>
        </a:p>
      </dsp:txBody>
      <dsp:txXfrm>
        <a:off x="0" y="1480877"/>
        <a:ext cx="2103120" cy="1395769"/>
      </dsp:txXfrm>
    </dsp:sp>
    <dsp:sp modelId="{567CBCD3-4F5A-426D-901A-63218A1F5F2A}">
      <dsp:nvSpPr>
        <dsp:cNvPr id="0" name=""/>
        <dsp:cNvSpPr/>
      </dsp:nvSpPr>
      <dsp:spPr>
        <a:xfrm>
          <a:off x="2103120" y="2960392"/>
          <a:ext cx="8412480" cy="1395769"/>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525" rIns="163225" bIns="354525" numCol="1" spcCol="1270" anchor="ctr" anchorCtr="0">
          <a:noAutofit/>
        </a:bodyPr>
        <a:lstStyle/>
        <a:p>
          <a:pPr marL="0" lvl="0" indent="0" algn="l" defTabSz="1066800">
            <a:lnSpc>
              <a:spcPct val="90000"/>
            </a:lnSpc>
            <a:spcBef>
              <a:spcPct val="0"/>
            </a:spcBef>
            <a:spcAft>
              <a:spcPct val="35000"/>
            </a:spcAft>
            <a:buNone/>
          </a:pPr>
          <a:r>
            <a:rPr lang="en-US" sz="2400" kern="1200" dirty="0"/>
            <a:t>Strategic Investments: Recommend where to allocate resources—additional staff, training, or system upgrades.</a:t>
          </a:r>
        </a:p>
      </dsp:txBody>
      <dsp:txXfrm>
        <a:off x="2103120" y="2960392"/>
        <a:ext cx="8412480" cy="1395769"/>
      </dsp:txXfrm>
    </dsp:sp>
    <dsp:sp modelId="{90951FAE-0753-4926-B9E5-36768EA1234C}">
      <dsp:nvSpPr>
        <dsp:cNvPr id="0" name=""/>
        <dsp:cNvSpPr/>
      </dsp:nvSpPr>
      <dsp:spPr>
        <a:xfrm>
          <a:off x="0" y="2960392"/>
          <a:ext cx="2103120" cy="1395769"/>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871" rIns="111290" bIns="137871" numCol="1" spcCol="1270" anchor="ctr" anchorCtr="0">
          <a:noAutofit/>
        </a:bodyPr>
        <a:lstStyle/>
        <a:p>
          <a:pPr marL="0" lvl="0" indent="0" algn="ctr" defTabSz="1244600">
            <a:lnSpc>
              <a:spcPct val="90000"/>
            </a:lnSpc>
            <a:spcBef>
              <a:spcPct val="0"/>
            </a:spcBef>
            <a:spcAft>
              <a:spcPct val="35000"/>
            </a:spcAft>
            <a:buNone/>
            <a:defRPr b="1"/>
          </a:pPr>
          <a:r>
            <a:rPr lang="en-US" sz="2800" kern="1200" dirty="0"/>
            <a:t>Guide</a:t>
          </a:r>
        </a:p>
      </dsp:txBody>
      <dsp:txXfrm>
        <a:off x="0" y="2960392"/>
        <a:ext cx="2103120" cy="1395769"/>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courses.lumenlearning.com/wm-businesscommunicationmgrs/chapter/informal-and-formal-reports-types/" TargetMode="External"/><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research.ibm.com/publications/star-a-system-for-ticket-analysis-and-resoluti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rson Using Laptop · Free Stock Photo">
            <a:extLst>
              <a:ext uri="{FF2B5EF4-FFF2-40B4-BE49-F238E27FC236}">
                <a16:creationId xmlns:a16="http://schemas.microsoft.com/office/drawing/2014/main" id="{B022BB85-C81A-07C8-FABE-5C2B60CECA51}"/>
              </a:ext>
            </a:extLst>
          </p:cNvPr>
          <p:cNvPicPr>
            <a:picLocks noChangeAspect="1"/>
          </p:cNvPicPr>
          <p:nvPr/>
        </p:nvPicPr>
        <p:blipFill>
          <a:blip r:embed="rId2"/>
          <a:srcRect t="3148" r="19264" b="1161"/>
          <a:stretch/>
        </p:blipFill>
        <p:spPr>
          <a:xfrm>
            <a:off x="3523488" y="10"/>
            <a:ext cx="8668512" cy="6857990"/>
          </a:xfrm>
          <a:prstGeom prst="rect">
            <a:avLst/>
          </a:prstGeom>
        </p:spPr>
      </p:pic>
      <p:sp>
        <p:nvSpPr>
          <p:cNvPr id="28" name="Rectangle 2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7981" y="1122363"/>
            <a:ext cx="3981028" cy="2560668"/>
          </a:xfrm>
        </p:spPr>
        <p:txBody>
          <a:bodyPr anchor="b">
            <a:normAutofit/>
          </a:bodyPr>
          <a:lstStyle/>
          <a:p>
            <a:pPr algn="l"/>
            <a:r>
              <a:rPr lang="en-US" sz="4800" b="1" dirty="0"/>
              <a:t>IT Tickets Analysis</a:t>
            </a:r>
          </a:p>
        </p:txBody>
      </p:sp>
      <p:sp>
        <p:nvSpPr>
          <p:cNvPr id="29" name="Rectangle 2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2" name="Rectangle 43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67209C-520C-F33B-5C7B-1E3578271447}"/>
              </a:ext>
            </a:extLst>
          </p:cNvPr>
          <p:cNvSpPr>
            <a:spLocks noGrp="1"/>
          </p:cNvSpPr>
          <p:nvPr>
            <p:ph type="title"/>
          </p:nvPr>
        </p:nvSpPr>
        <p:spPr>
          <a:xfrm>
            <a:off x="838200" y="365125"/>
            <a:ext cx="10515600" cy="1080030"/>
          </a:xfrm>
        </p:spPr>
        <p:txBody>
          <a:bodyPr>
            <a:normAutofit/>
          </a:bodyPr>
          <a:lstStyle/>
          <a:p>
            <a:r>
              <a:rPr lang="en-US" sz="3600" b="1" dirty="0"/>
              <a:t>Problem Statement</a:t>
            </a:r>
          </a:p>
        </p:txBody>
      </p:sp>
      <p:sp>
        <p:nvSpPr>
          <p:cNvPr id="43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Content Placeholder 415">
            <a:extLst>
              <a:ext uri="{FF2B5EF4-FFF2-40B4-BE49-F238E27FC236}">
                <a16:creationId xmlns:a16="http://schemas.microsoft.com/office/drawing/2014/main" id="{E90D316F-8134-23E0-9CD6-BB9D073DCDD3}"/>
              </a:ext>
            </a:extLst>
          </p:cNvPr>
          <p:cNvSpPr>
            <a:spLocks noGrp="1"/>
          </p:cNvSpPr>
          <p:nvPr>
            <p:ph idx="1"/>
          </p:nvPr>
        </p:nvSpPr>
        <p:spPr>
          <a:xfrm>
            <a:off x="838200" y="2936917"/>
            <a:ext cx="10515600" cy="1568027"/>
          </a:xfrm>
        </p:spPr>
        <p:txBody>
          <a:bodyPr vert="horz" lIns="91440" tIns="45720" rIns="91440" bIns="45720" rtlCol="0">
            <a:normAutofit/>
          </a:bodyPr>
          <a:lstStyle/>
          <a:p>
            <a:pPr marL="0" indent="0">
              <a:buNone/>
            </a:pPr>
            <a:r>
              <a:rPr lang="en-US" sz="2200" dirty="0">
                <a:ea typeface="+mn-lt"/>
                <a:cs typeface="+mn-lt"/>
              </a:rPr>
              <a:t>The analysis focuses on analyzing IT support ticket management systems to understand agent performance, ticket resolution, and satisfaction levels, assessing team effectiveness, and making informed staffing decisions to improve service quality.</a:t>
            </a:r>
            <a:endParaRPr lang="en-US" sz="2200" dirty="0"/>
          </a:p>
        </p:txBody>
      </p:sp>
    </p:spTree>
    <p:extLst>
      <p:ext uri="{BB962C8B-B14F-4D97-AF65-F5344CB8AC3E}">
        <p14:creationId xmlns:p14="http://schemas.microsoft.com/office/powerpoint/2010/main" val="1876763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1AB70-9A13-88E1-2EEE-08E892D8DA01}"/>
              </a:ext>
            </a:extLst>
          </p:cNvPr>
          <p:cNvSpPr>
            <a:spLocks noGrp="1"/>
          </p:cNvSpPr>
          <p:nvPr>
            <p:ph type="title"/>
          </p:nvPr>
        </p:nvSpPr>
        <p:spPr>
          <a:xfrm>
            <a:off x="640080" y="1341369"/>
            <a:ext cx="4254302" cy="3580324"/>
          </a:xfrm>
        </p:spPr>
        <p:txBody>
          <a:bodyPr vert="horz" lIns="91440" tIns="45720" rIns="91440" bIns="45720" rtlCol="0" anchor="b">
            <a:normAutofit/>
          </a:bodyPr>
          <a:lstStyle/>
          <a:p>
            <a:r>
              <a:rPr lang="en-US" sz="2600" i="1" dirty="0"/>
              <a:t>Did you know that Companies that invest in efficient IT ticketing systems see a 25% reduction in downtime and faster problem resolution.</a:t>
            </a:r>
          </a:p>
        </p:txBody>
      </p:sp>
      <p:sp>
        <p:nvSpPr>
          <p:cNvPr id="2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77D9769B-B208-B30B-3E4A-ADE96975C00A}"/>
              </a:ext>
            </a:extLst>
          </p:cNvPr>
          <p:cNvSpPr>
            <a:spLocks noGrp="1"/>
          </p:cNvSpPr>
          <p:nvPr>
            <p:ph type="body" sz="half" idx="2"/>
          </p:nvPr>
        </p:nvSpPr>
        <p:spPr>
          <a:xfrm>
            <a:off x="640080" y="2872899"/>
            <a:ext cx="4243589" cy="3320668"/>
          </a:xfrm>
        </p:spPr>
        <p:txBody>
          <a:bodyPr vert="horz" lIns="91440" tIns="45720" rIns="91440" bIns="45720" rtlCol="0" anchor="t">
            <a:normAutofit/>
          </a:bodyPr>
          <a:lstStyle/>
          <a:p>
            <a:pPr>
              <a:spcBef>
                <a:spcPct val="0"/>
              </a:spcBef>
            </a:pPr>
            <a:br>
              <a:rPr lang="en-US" sz="2200" i="1"/>
            </a:br>
            <a:br>
              <a:rPr lang="en-US" sz="2200" i="1"/>
            </a:br>
            <a:endParaRPr lang="en-US" sz="2200" i="1"/>
          </a:p>
          <a:p>
            <a:pPr indent="-228600">
              <a:spcBef>
                <a:spcPct val="0"/>
              </a:spcBef>
              <a:buFont typeface="Arial" panose="020B0604020202020204" pitchFamily="34" charset="0"/>
              <a:buChar char="•"/>
            </a:pPr>
            <a:endParaRPr lang="en-US" sz="2200"/>
          </a:p>
          <a:p>
            <a:br>
              <a:rPr lang="en-US" sz="2200" i="1"/>
            </a:br>
            <a:br>
              <a:rPr lang="en-US" sz="2200" i="1"/>
            </a:br>
            <a:endParaRPr lang="en-US" sz="2200"/>
          </a:p>
        </p:txBody>
      </p:sp>
      <p:pic>
        <p:nvPicPr>
          <p:cNvPr id="5" name="Picture Placeholder 4" descr="A person sitting at a desk with a computer&#10;&#10;Description automatically generated">
            <a:extLst>
              <a:ext uri="{FF2B5EF4-FFF2-40B4-BE49-F238E27FC236}">
                <a16:creationId xmlns:a16="http://schemas.microsoft.com/office/drawing/2014/main" id="{8FFDEB5F-A3BC-82E8-99E4-EE41590BEFC9}"/>
              </a:ext>
            </a:extLst>
          </p:cNvPr>
          <p:cNvPicPr>
            <a:picLocks noGrp="1" noChangeAspect="1"/>
          </p:cNvPicPr>
          <p:nvPr>
            <p:ph type="pic" idx="1"/>
          </p:nvPr>
        </p:nvPicPr>
        <p:blipFill>
          <a:blip r:embed="rId2"/>
          <a:srcRect t="302"/>
          <a:stretch/>
        </p:blipFill>
        <p:spPr>
          <a:xfrm>
            <a:off x="5893785" y="10"/>
            <a:ext cx="6296692"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512787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14E98A-1327-8AF4-CC55-5637C27F52C2}"/>
              </a:ext>
            </a:extLst>
          </p:cNvPr>
          <p:cNvSpPr>
            <a:spLocks noGrp="1"/>
          </p:cNvSpPr>
          <p:nvPr>
            <p:ph type="title"/>
          </p:nvPr>
        </p:nvSpPr>
        <p:spPr>
          <a:xfrm>
            <a:off x="838200" y="365125"/>
            <a:ext cx="10515600" cy="1325563"/>
          </a:xfrm>
        </p:spPr>
        <p:txBody>
          <a:bodyPr>
            <a:normAutofit/>
          </a:bodyPr>
          <a:lstStyle/>
          <a:p>
            <a:r>
              <a:rPr lang="en-US" sz="3200" b="1" dirty="0"/>
              <a:t>Data overview</a:t>
            </a:r>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CA2F435-E6F7-7A56-3832-228AD22BC08D}"/>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endParaRPr lang="en-US" sz="2200"/>
          </a:p>
          <a:p>
            <a:r>
              <a:rPr lang="en-US" sz="2200" b="1" dirty="0">
                <a:ea typeface="+mn-lt"/>
                <a:cs typeface="+mn-lt"/>
              </a:rPr>
              <a:t>Total Tickets:</a:t>
            </a:r>
            <a:r>
              <a:rPr lang="en-US" sz="2200" dirty="0">
                <a:ea typeface="+mn-lt"/>
                <a:cs typeface="+mn-lt"/>
              </a:rPr>
              <a:t> 97,494</a:t>
            </a:r>
            <a:endParaRPr lang="en-US" sz="2200" dirty="0"/>
          </a:p>
          <a:p>
            <a:r>
              <a:rPr lang="en-US" sz="2200" b="1" dirty="0">
                <a:ea typeface="+mn-lt"/>
                <a:cs typeface="+mn-lt"/>
              </a:rPr>
              <a:t>Total Agents:</a:t>
            </a:r>
            <a:r>
              <a:rPr lang="en-US" sz="2200" dirty="0">
                <a:ea typeface="+mn-lt"/>
                <a:cs typeface="+mn-lt"/>
              </a:rPr>
              <a:t> 50</a:t>
            </a:r>
            <a:endParaRPr lang="en-US" sz="2200" dirty="0"/>
          </a:p>
          <a:p>
            <a:r>
              <a:rPr lang="en-US" sz="2200" b="1" dirty="0">
                <a:ea typeface="+mn-lt"/>
                <a:cs typeface="+mn-lt"/>
              </a:rPr>
              <a:t>Issue Types:</a:t>
            </a:r>
            <a:r>
              <a:rPr lang="en-US" sz="2200" dirty="0">
                <a:ea typeface="+mn-lt"/>
                <a:cs typeface="+mn-lt"/>
              </a:rPr>
              <a:t> IT Error, IT Request</a:t>
            </a:r>
            <a:endParaRPr lang="en-US" sz="2200" dirty="0"/>
          </a:p>
          <a:p>
            <a:r>
              <a:rPr lang="en-US" sz="2200" b="1">
                <a:ea typeface="+mn-lt"/>
                <a:cs typeface="+mn-lt"/>
              </a:rPr>
              <a:t>Ticket Request Categories:</a:t>
            </a:r>
            <a:r>
              <a:rPr lang="en-US" sz="2200">
                <a:ea typeface="+mn-lt"/>
                <a:cs typeface="+mn-lt"/>
              </a:rPr>
              <a:t> Login Access, System, Hardware, Software</a:t>
            </a:r>
            <a:endParaRPr lang="en-US" sz="2200"/>
          </a:p>
          <a:p>
            <a:r>
              <a:rPr lang="en-US" sz="2200" b="1" dirty="0">
                <a:ea typeface="+mn-lt"/>
                <a:cs typeface="+mn-lt"/>
              </a:rPr>
              <a:t>Priority:</a:t>
            </a:r>
            <a:r>
              <a:rPr lang="en-US" sz="2200" dirty="0">
                <a:ea typeface="+mn-lt"/>
                <a:cs typeface="+mn-lt"/>
              </a:rPr>
              <a:t> 0-Unassigned, 1-Low, 2-Mid, 3-High</a:t>
            </a:r>
            <a:endParaRPr lang="en-US" sz="2200" dirty="0"/>
          </a:p>
          <a:p>
            <a:r>
              <a:rPr lang="en-US" sz="2200" b="1" dirty="0">
                <a:ea typeface="+mn-lt"/>
                <a:cs typeface="+mn-lt"/>
              </a:rPr>
              <a:t>Severity:</a:t>
            </a:r>
            <a:r>
              <a:rPr lang="en-US" sz="2200" dirty="0">
                <a:ea typeface="+mn-lt"/>
                <a:cs typeface="+mn-lt"/>
              </a:rPr>
              <a:t> 0-Unclassified, 1-Minor, 2-Normal, 3-Mayor, 4-Urgent</a:t>
            </a:r>
            <a:endParaRPr lang="en-US" sz="2200" dirty="0"/>
          </a:p>
          <a:p>
            <a:endParaRPr lang="en-US" sz="2200"/>
          </a:p>
        </p:txBody>
      </p:sp>
    </p:spTree>
    <p:extLst>
      <p:ext uri="{BB962C8B-B14F-4D97-AF65-F5344CB8AC3E}">
        <p14:creationId xmlns:p14="http://schemas.microsoft.com/office/powerpoint/2010/main" val="1686417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CBF05D-180F-9919-28F4-B51D5402C89C}"/>
              </a:ext>
            </a:extLst>
          </p:cNvPr>
          <p:cNvSpPr>
            <a:spLocks noGrp="1"/>
          </p:cNvSpPr>
          <p:nvPr>
            <p:ph type="title"/>
          </p:nvPr>
        </p:nvSpPr>
        <p:spPr>
          <a:xfrm>
            <a:off x="841248" y="256032"/>
            <a:ext cx="10506456" cy="1014984"/>
          </a:xfrm>
        </p:spPr>
        <p:txBody>
          <a:bodyPr anchor="b">
            <a:normAutofit/>
          </a:bodyPr>
          <a:lstStyle/>
          <a:p>
            <a:r>
              <a:rPr lang="en-US" sz="3600" b="1" dirty="0"/>
              <a:t>Objectives</a:t>
            </a:r>
          </a:p>
        </p:txBody>
      </p:sp>
      <p:sp>
        <p:nvSpPr>
          <p:cNvPr id="59" name="Rectangle 5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1" name="Rectangle 60">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6" name="Content Placeholder 2">
            <a:extLst>
              <a:ext uri="{FF2B5EF4-FFF2-40B4-BE49-F238E27FC236}">
                <a16:creationId xmlns:a16="http://schemas.microsoft.com/office/drawing/2014/main" id="{740E49A9-1D16-AD46-99A4-BADE3DC13C1D}"/>
              </a:ext>
            </a:extLst>
          </p:cNvPr>
          <p:cNvGraphicFramePr/>
          <p:nvPr>
            <p:extLst>
              <p:ext uri="{D42A27DB-BD31-4B8C-83A1-F6EECF244321}">
                <p14:modId xmlns:p14="http://schemas.microsoft.com/office/powerpoint/2010/main" val="408215982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663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20E7BB4-C534-97A3-F033-78C6FD432E7B}"/>
              </a:ext>
            </a:extLst>
          </p:cNvPr>
          <p:cNvSpPr txBox="1"/>
          <p:nvPr/>
        </p:nvSpPr>
        <p:spPr>
          <a:xfrm>
            <a:off x="572493" y="238539"/>
            <a:ext cx="11001587" cy="112114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baseline="0" dirty="0">
                <a:latin typeface="+mj-lt"/>
                <a:ea typeface="+mj-ea"/>
                <a:cs typeface="+mj-cs"/>
              </a:rPr>
              <a:t>Data Cleaning and Preprocessing</a:t>
            </a:r>
            <a:r>
              <a:rPr lang="en-US" sz="3600" dirty="0">
                <a:latin typeface="+mj-lt"/>
                <a:ea typeface="+mj-ea"/>
                <a:cs typeface="+mj-cs"/>
              </a:rPr>
              <a:t>​</a:t>
            </a:r>
          </a:p>
        </p:txBody>
      </p:sp>
      <p:sp>
        <p:nvSpPr>
          <p:cNvPr id="2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B50FE53-75A7-E6F4-A705-4AC9FEFF0387}"/>
              </a:ext>
            </a:extLst>
          </p:cNvPr>
          <p:cNvSpPr txBox="1"/>
          <p:nvPr/>
        </p:nvSpPr>
        <p:spPr>
          <a:xfrm>
            <a:off x="572493" y="2350716"/>
            <a:ext cx="6713552" cy="320765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indent="-228600">
              <a:lnSpc>
                <a:spcPct val="90000"/>
              </a:lnSpc>
              <a:spcAft>
                <a:spcPts val="600"/>
              </a:spcAft>
              <a:buFont typeface="Arial" panose="020B0604020202020204" pitchFamily="34" charset="0"/>
              <a:buChar char="•"/>
            </a:pPr>
            <a:endParaRPr lang="en-US" sz="1600" b="1"/>
          </a:p>
          <a:p>
            <a:pPr indent="-228600">
              <a:lnSpc>
                <a:spcPct val="90000"/>
              </a:lnSpc>
              <a:spcAft>
                <a:spcPts val="600"/>
              </a:spcAft>
              <a:buFont typeface="Arial" panose="020B0604020202020204" pitchFamily="34" charset="0"/>
              <a:buChar char="•"/>
            </a:pPr>
            <a:endParaRPr lang="en-US" sz="1600" b="1"/>
          </a:p>
          <a:p>
            <a:pPr indent="-228600">
              <a:lnSpc>
                <a:spcPct val="90000"/>
              </a:lnSpc>
              <a:spcAft>
                <a:spcPts val="600"/>
              </a:spcAft>
              <a:buFont typeface="Arial" panose="020B0604020202020204" pitchFamily="34" charset="0"/>
              <a:buChar char="•"/>
            </a:pPr>
            <a:r>
              <a:rPr lang="en-US" sz="1600" dirty="0"/>
              <a:t> Standardized ticket categories to ensure uniform classification.</a:t>
            </a:r>
          </a:p>
          <a:p>
            <a:pPr indent="-228600">
              <a:lnSpc>
                <a:spcPct val="90000"/>
              </a:lnSpc>
              <a:spcAft>
                <a:spcPts val="600"/>
              </a:spcAft>
              <a:buFont typeface="Arial" panose="020B0604020202020204" pitchFamily="34" charset="0"/>
              <a:buChar char="•"/>
            </a:pPr>
            <a:endParaRPr lang="en-US" sz="1600" dirty="0"/>
          </a:p>
          <a:p>
            <a:pPr indent="-228600">
              <a:lnSpc>
                <a:spcPct val="90000"/>
              </a:lnSpc>
              <a:spcAft>
                <a:spcPts val="600"/>
              </a:spcAft>
              <a:buFont typeface="Arial" panose="020B0604020202020204" pitchFamily="34" charset="0"/>
              <a:buChar char="•"/>
            </a:pPr>
            <a:r>
              <a:rPr lang="en-US" sz="1600" dirty="0"/>
              <a:t> Addressed missing resolution times using historical averages.</a:t>
            </a:r>
          </a:p>
          <a:p>
            <a:pPr indent="-228600">
              <a:lnSpc>
                <a:spcPct val="90000"/>
              </a:lnSpc>
              <a:spcAft>
                <a:spcPts val="600"/>
              </a:spcAft>
              <a:buFont typeface="Arial" panose="020B0604020202020204" pitchFamily="34" charset="0"/>
              <a:buChar char="•"/>
            </a:pPr>
            <a:endParaRPr lang="en-US" sz="1600" dirty="0"/>
          </a:p>
          <a:p>
            <a:pPr indent="-228600">
              <a:lnSpc>
                <a:spcPct val="90000"/>
              </a:lnSpc>
              <a:spcAft>
                <a:spcPts val="600"/>
              </a:spcAft>
              <a:buFont typeface="Arial" panose="020B0604020202020204" pitchFamily="34" charset="0"/>
              <a:buChar char="•"/>
            </a:pPr>
            <a:r>
              <a:rPr lang="en-US" sz="1600" dirty="0"/>
              <a:t> Removed duplicate tickets and filtered incomplete agent records.</a:t>
            </a:r>
          </a:p>
          <a:p>
            <a:pPr indent="-228600">
              <a:lnSpc>
                <a:spcPct val="90000"/>
              </a:lnSpc>
              <a:spcAft>
                <a:spcPts val="600"/>
              </a:spcAft>
              <a:buFont typeface="Arial" panose="020B0604020202020204" pitchFamily="34" charset="0"/>
              <a:buChar char="•"/>
            </a:pPr>
            <a:endParaRPr lang="en-US" sz="1600" dirty="0"/>
          </a:p>
          <a:p>
            <a:pPr marL="285750" indent="-228600">
              <a:lnSpc>
                <a:spcPct val="90000"/>
              </a:lnSpc>
              <a:spcAft>
                <a:spcPts val="600"/>
              </a:spcAft>
              <a:buFont typeface="Arial" panose="020B0604020202020204" pitchFamily="34" charset="0"/>
              <a:buChar char="•"/>
            </a:pPr>
            <a:r>
              <a:rPr lang="en-US" sz="1600" dirty="0"/>
              <a:t>The dataset offers insights into agent efficiency and IT issue trends.</a:t>
            </a:r>
          </a:p>
          <a:p>
            <a:pPr marL="285750" indent="-228600">
              <a:lnSpc>
                <a:spcPct val="90000"/>
              </a:lnSpc>
              <a:spcAft>
                <a:spcPts val="600"/>
              </a:spcAft>
              <a:buFont typeface="Arial" panose="020B0604020202020204" pitchFamily="34" charset="0"/>
              <a:buChar char="•"/>
            </a:pPr>
            <a:endParaRPr lang="en-US" sz="1600" dirty="0"/>
          </a:p>
          <a:p>
            <a:pPr marL="285750" indent="-228600">
              <a:lnSpc>
                <a:spcPct val="90000"/>
              </a:lnSpc>
              <a:spcAft>
                <a:spcPts val="600"/>
              </a:spcAft>
              <a:buFont typeface="Arial" panose="020B0604020202020204" pitchFamily="34" charset="0"/>
              <a:buChar char="•"/>
            </a:pPr>
            <a:r>
              <a:rPr lang="en-US" sz="1600" dirty="0"/>
              <a:t>Used functions like VLOOKUP, MAX,MIN,AVERAGE,AVERAGEIF etc...</a:t>
            </a:r>
          </a:p>
          <a:p>
            <a:pPr marL="285750" indent="-228600">
              <a:lnSpc>
                <a:spcPct val="90000"/>
              </a:lnSpc>
              <a:spcAft>
                <a:spcPts val="600"/>
              </a:spcAft>
              <a:buFont typeface="Arial" panose="020B0604020202020204" pitchFamily="34" charset="0"/>
              <a:buChar char="•"/>
            </a:pPr>
            <a:endParaRPr lang="en-US" sz="1600"/>
          </a:p>
          <a:p>
            <a:pPr marL="285750" indent="-228600">
              <a:lnSpc>
                <a:spcPct val="90000"/>
              </a:lnSpc>
              <a:spcAft>
                <a:spcPts val="600"/>
              </a:spcAft>
              <a:buFont typeface="Arial" panose="020B0604020202020204" pitchFamily="34" charset="0"/>
              <a:buChar char="•"/>
            </a:pPr>
            <a:endParaRPr lang="en-US" sz="1600"/>
          </a:p>
          <a:p>
            <a:pPr indent="-228600">
              <a:lnSpc>
                <a:spcPct val="90000"/>
              </a:lnSpc>
              <a:spcAft>
                <a:spcPts val="600"/>
              </a:spcAft>
              <a:buFont typeface="Arial" panose="020B0604020202020204" pitchFamily="34" charset="0"/>
              <a:buChar char="•"/>
            </a:pPr>
            <a:endParaRPr lang="en-US" sz="1600"/>
          </a:p>
          <a:p>
            <a:pPr indent="-228600">
              <a:lnSpc>
                <a:spcPct val="90000"/>
              </a:lnSpc>
              <a:spcAft>
                <a:spcPts val="600"/>
              </a:spcAft>
              <a:buFont typeface="Arial" panose="020B0604020202020204" pitchFamily="34" charset="0"/>
              <a:buChar char="•"/>
            </a:pPr>
            <a:endParaRPr lang="en-US" sz="1600"/>
          </a:p>
        </p:txBody>
      </p:sp>
      <p:pic>
        <p:nvPicPr>
          <p:cNvPr id="14" name="Picture 13">
            <a:extLst>
              <a:ext uri="{FF2B5EF4-FFF2-40B4-BE49-F238E27FC236}">
                <a16:creationId xmlns:a16="http://schemas.microsoft.com/office/drawing/2014/main" id="{45977E42-5993-AC45-BA3A-A3359AEF8179}"/>
              </a:ext>
            </a:extLst>
          </p:cNvPr>
          <p:cNvPicPr>
            <a:picLocks noChangeAspect="1"/>
          </p:cNvPicPr>
          <p:nvPr/>
        </p:nvPicPr>
        <p:blipFill>
          <a:blip r:embed="rId2"/>
          <a:srcRect r="3792" b="-3"/>
          <a:stretch/>
        </p:blipFill>
        <p:spPr>
          <a:xfrm>
            <a:off x="7701058" y="2782415"/>
            <a:ext cx="3863656" cy="2549587"/>
          </a:xfrm>
          <a:prstGeom prst="rect">
            <a:avLst/>
          </a:prstGeom>
        </p:spPr>
      </p:pic>
    </p:spTree>
    <p:extLst>
      <p:ext uri="{BB962C8B-B14F-4D97-AF65-F5344CB8AC3E}">
        <p14:creationId xmlns:p14="http://schemas.microsoft.com/office/powerpoint/2010/main" val="427043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BE3A6-F661-0386-72A2-44D9F9354827}"/>
              </a:ext>
            </a:extLst>
          </p:cNvPr>
          <p:cNvSpPr>
            <a:spLocks noGrp="1"/>
          </p:cNvSpPr>
          <p:nvPr>
            <p:ph type="title"/>
          </p:nvPr>
        </p:nvSpPr>
        <p:spPr>
          <a:xfrm>
            <a:off x="572493" y="661872"/>
            <a:ext cx="10978304" cy="1055532"/>
          </a:xfrm>
        </p:spPr>
        <p:txBody>
          <a:bodyPr vert="horz" lIns="91440" tIns="45720" rIns="91440" bIns="45720" rtlCol="0" anchor="b">
            <a:noAutofit/>
          </a:bodyPr>
          <a:lstStyle/>
          <a:p>
            <a:r>
              <a:rPr lang="en-US" sz="3600" b="1" dirty="0"/>
              <a:t>Comprehensive Approach </a:t>
            </a:r>
            <a:br>
              <a:rPr lang="en-US" sz="3600" b="1" dirty="0"/>
            </a:br>
            <a:endParaRPr lang="en-US" sz="3600" b="1" dirty="0"/>
          </a:p>
        </p:txBody>
      </p:sp>
      <p:sp>
        <p:nvSpPr>
          <p:cNvPr id="6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9A41065-9004-ACAE-09E7-4FD231219340}"/>
              </a:ext>
            </a:extLst>
          </p:cNvPr>
          <p:cNvSpPr>
            <a:spLocks noGrp="1"/>
          </p:cNvSpPr>
          <p:nvPr>
            <p:ph type="body" sz="half" idx="2"/>
          </p:nvPr>
        </p:nvSpPr>
        <p:spPr>
          <a:xfrm>
            <a:off x="572493" y="2268167"/>
            <a:ext cx="6713552" cy="3921359"/>
          </a:xfrm>
        </p:spPr>
        <p:txBody>
          <a:bodyPr vert="horz" lIns="91440" tIns="45720" rIns="91440" bIns="45720" rtlCol="0" anchor="t">
            <a:noAutofit/>
          </a:bodyPr>
          <a:lstStyle/>
          <a:p>
            <a:pPr indent="-228600">
              <a:buFont typeface="Arial" panose="020B0604020202020204" pitchFamily="34" charset="0"/>
              <a:buChar char="•"/>
            </a:pPr>
            <a:endParaRPr lang="en-US" sz="1400" b="1"/>
          </a:p>
          <a:p>
            <a:pPr marL="285750" indent="-228600">
              <a:buFont typeface="Arial" panose="020B0604020202020204" pitchFamily="34" charset="0"/>
              <a:buChar char="•"/>
            </a:pPr>
            <a:r>
              <a:rPr lang="en-US" sz="1400" dirty="0"/>
              <a:t>Used </a:t>
            </a:r>
            <a:r>
              <a:rPr lang="en-US" sz="1400" b="1" dirty="0"/>
              <a:t>LEFT, RIGHT, MID</a:t>
            </a:r>
            <a:r>
              <a:rPr lang="en-US" sz="1400" dirty="0"/>
              <a:t> functions to extract and standardize information from the Ticket ID and Agent ID fields for uniformity across the dataset.</a:t>
            </a:r>
          </a:p>
          <a:p>
            <a:pPr marL="285750" indent="-228600">
              <a:buFont typeface="Arial" panose="020B0604020202020204" pitchFamily="34" charset="0"/>
              <a:buChar char="•"/>
            </a:pPr>
            <a:endParaRPr lang="en-US" sz="1400" dirty="0"/>
          </a:p>
          <a:p>
            <a:pPr marL="285750" indent="-228600">
              <a:buFont typeface="Arial" panose="020B0604020202020204" pitchFamily="34" charset="0"/>
              <a:buChar char="•"/>
            </a:pPr>
            <a:r>
              <a:rPr lang="en-US" sz="1400" dirty="0"/>
              <a:t>Replaced missing satisfaction rates with averages using the </a:t>
            </a:r>
            <a:r>
              <a:rPr lang="en-US" sz="1400" b="1" dirty="0"/>
              <a:t>IFERROR</a:t>
            </a:r>
            <a:r>
              <a:rPr lang="en-US" sz="1400" dirty="0"/>
              <a:t> function to ensure all records were complete.</a:t>
            </a:r>
          </a:p>
          <a:p>
            <a:pPr marL="285750" indent="-228600">
              <a:buFont typeface="Arial" panose="020B0604020202020204" pitchFamily="34" charset="0"/>
              <a:buChar char="•"/>
            </a:pPr>
            <a:endParaRPr lang="en-US" sz="1400" dirty="0"/>
          </a:p>
          <a:p>
            <a:pPr marL="285750" indent="-228600">
              <a:buFont typeface="Arial" panose="020B0604020202020204" pitchFamily="34" charset="0"/>
              <a:buChar char="•"/>
            </a:pPr>
            <a:r>
              <a:rPr lang="en-US" sz="1400" dirty="0"/>
              <a:t>Implemented </a:t>
            </a:r>
            <a:r>
              <a:rPr lang="en-US" sz="1400" b="1" dirty="0"/>
              <a:t>PivotTables</a:t>
            </a:r>
            <a:r>
              <a:rPr lang="en-US" sz="1400" dirty="0"/>
              <a:t> to compare agent performance based on ticket severity (urgent, major, minor) and resolution times.</a:t>
            </a:r>
          </a:p>
          <a:p>
            <a:pPr marL="57150"/>
            <a:endParaRPr lang="en-US" sz="1400" dirty="0"/>
          </a:p>
          <a:p>
            <a:pPr marL="285750" indent="-228600">
              <a:buFont typeface="Arial" panose="020B0604020202020204" pitchFamily="34" charset="0"/>
              <a:buChar char="•"/>
            </a:pPr>
            <a:r>
              <a:rPr lang="en-US" sz="1400" dirty="0"/>
              <a:t>Applied </a:t>
            </a:r>
            <a:r>
              <a:rPr lang="en-US" sz="1400" b="1" dirty="0"/>
              <a:t>COUNTIFS</a:t>
            </a:r>
            <a:r>
              <a:rPr lang="en-US" sz="1400" dirty="0"/>
              <a:t> to categorize tickets by issue type (IT Error, IT Agent), helping to identify common problems and inefficiencies in ticket handling.</a:t>
            </a:r>
          </a:p>
          <a:p>
            <a:pPr marL="285750" indent="-228600">
              <a:buFont typeface="Arial" panose="020B0604020202020204" pitchFamily="34" charset="0"/>
              <a:buChar char="•"/>
            </a:pPr>
            <a:endParaRPr lang="en-US" sz="1400"/>
          </a:p>
          <a:p>
            <a:pPr indent="-228600">
              <a:buFont typeface="Arial" panose="020B0604020202020204" pitchFamily="34" charset="0"/>
              <a:buChar char="•"/>
            </a:pPr>
            <a:endParaRPr lang="en-US" sz="1400"/>
          </a:p>
        </p:txBody>
      </p:sp>
      <p:pic>
        <p:nvPicPr>
          <p:cNvPr id="5" name="Picture Placeholder 4" descr="A group of people sitting at a table with papers on it&#10;&#10;Description automatically generated">
            <a:extLst>
              <a:ext uri="{FF2B5EF4-FFF2-40B4-BE49-F238E27FC236}">
                <a16:creationId xmlns:a16="http://schemas.microsoft.com/office/drawing/2014/main" id="{8D1D4B77-61A0-09C4-CDED-9ACCCE54C366}"/>
              </a:ext>
            </a:extLst>
          </p:cNvPr>
          <p:cNvPicPr>
            <a:picLocks noGrp="1" noChangeAspect="1"/>
          </p:cNvPicPr>
          <p:nvPr>
            <p:ph type="pic" idx="1"/>
          </p:nvPr>
        </p:nvPicPr>
        <p:blipFill>
          <a:blip r:embed="rId2"/>
          <a:srcRect l="23580" r="4266"/>
          <a:stretch/>
        </p:blipFill>
        <p:spPr>
          <a:xfrm>
            <a:off x="7768791" y="2582925"/>
            <a:ext cx="3261615" cy="2913297"/>
          </a:xfrm>
          <a:prstGeom prst="rect">
            <a:avLst/>
          </a:prstGeom>
        </p:spPr>
      </p:pic>
    </p:spTree>
    <p:extLst>
      <p:ext uri="{BB962C8B-B14F-4D97-AF65-F5344CB8AC3E}">
        <p14:creationId xmlns:p14="http://schemas.microsoft.com/office/powerpoint/2010/main" val="2388391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74380-44BB-C284-AE44-41B394B65554}"/>
              </a:ext>
            </a:extLst>
          </p:cNvPr>
          <p:cNvSpPr>
            <a:spLocks noGrp="1"/>
          </p:cNvSpPr>
          <p:nvPr>
            <p:ph type="title"/>
          </p:nvPr>
        </p:nvSpPr>
        <p:spPr>
          <a:xfrm>
            <a:off x="572493" y="238539"/>
            <a:ext cx="10982235" cy="1198558"/>
          </a:xfrm>
        </p:spPr>
        <p:txBody>
          <a:bodyPr vert="horz" lIns="91440" tIns="45720" rIns="91440" bIns="45720" rtlCol="0" anchor="b">
            <a:normAutofit/>
          </a:bodyPr>
          <a:lstStyle/>
          <a:p>
            <a:r>
              <a:rPr lang="en-US" sz="3600" b="1" dirty="0"/>
              <a:t>Average satisfaction rate by age group </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6E408E1-2E77-B4FB-C0D7-EA6576D1F010}"/>
              </a:ext>
            </a:extLst>
          </p:cNvPr>
          <p:cNvSpPr>
            <a:spLocks noGrp="1"/>
          </p:cNvSpPr>
          <p:nvPr>
            <p:ph type="body" sz="half" idx="2"/>
          </p:nvPr>
        </p:nvSpPr>
        <p:spPr>
          <a:xfrm>
            <a:off x="572493" y="2479530"/>
            <a:ext cx="6749837" cy="3375316"/>
          </a:xfrm>
        </p:spPr>
        <p:txBody>
          <a:bodyPr vert="horz" lIns="91440" tIns="45720" rIns="91440" bIns="45720" rtlCol="0" anchor="t">
            <a:normAutofit/>
          </a:bodyPr>
          <a:lstStyle/>
          <a:p>
            <a:pPr marL="285750" indent="-228600">
              <a:buFont typeface="Arial" panose="020B0604020202020204" pitchFamily="34" charset="0"/>
              <a:buChar char="•"/>
            </a:pPr>
            <a:r>
              <a:rPr lang="en-US" dirty="0"/>
              <a:t>The chart shows a consistently high level of satisfaction across all age groups, ranging from 3.99 to 4.21.</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t>The highest average satisfaction rate is observed in the 28-32 age group at 4.21.</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t>There is a slight dip in the satisfaction rate in the middle age groups (33-37 and 38-42).</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t>The satisfaction rate increases again in the older age groups (43-47 and 48-52).</a:t>
            </a:r>
          </a:p>
          <a:p>
            <a:pPr indent="-228600">
              <a:buFont typeface="Arial" panose="020B0604020202020204" pitchFamily="34" charset="0"/>
              <a:buChar char="•"/>
            </a:pPr>
            <a:endParaRPr lang="en-US" dirty="0"/>
          </a:p>
        </p:txBody>
      </p:sp>
      <p:pic>
        <p:nvPicPr>
          <p:cNvPr id="5" name="Picture Placeholder 4" descr="A graph of a number of people&#10;&#10;Description automatically generated">
            <a:extLst>
              <a:ext uri="{FF2B5EF4-FFF2-40B4-BE49-F238E27FC236}">
                <a16:creationId xmlns:a16="http://schemas.microsoft.com/office/drawing/2014/main" id="{6F476048-DBF3-0EC1-9C65-8020FFC5C371}"/>
              </a:ext>
            </a:extLst>
          </p:cNvPr>
          <p:cNvPicPr>
            <a:picLocks noGrp="1" noChangeAspect="1"/>
          </p:cNvPicPr>
          <p:nvPr>
            <p:ph type="pic" idx="1"/>
          </p:nvPr>
        </p:nvPicPr>
        <p:blipFill>
          <a:blip r:embed="rId2"/>
          <a:srcRect l="575" t="6157" r="2906" b="169"/>
          <a:stretch/>
        </p:blipFill>
        <p:spPr>
          <a:xfrm>
            <a:off x="7539586" y="2455293"/>
            <a:ext cx="4012086" cy="3265742"/>
          </a:xfrm>
          <a:prstGeom prst="rect">
            <a:avLst/>
          </a:prstGeom>
        </p:spPr>
      </p:pic>
    </p:spTree>
    <p:extLst>
      <p:ext uri="{BB962C8B-B14F-4D97-AF65-F5344CB8AC3E}">
        <p14:creationId xmlns:p14="http://schemas.microsoft.com/office/powerpoint/2010/main" val="1348020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74380-44BB-C284-AE44-41B394B65554}"/>
              </a:ext>
            </a:extLst>
          </p:cNvPr>
          <p:cNvSpPr>
            <a:spLocks noGrp="1"/>
          </p:cNvSpPr>
          <p:nvPr>
            <p:ph type="title"/>
          </p:nvPr>
        </p:nvSpPr>
        <p:spPr>
          <a:xfrm>
            <a:off x="572493" y="238539"/>
            <a:ext cx="10973769" cy="961492"/>
          </a:xfrm>
        </p:spPr>
        <p:txBody>
          <a:bodyPr vert="horz" lIns="91440" tIns="45720" rIns="91440" bIns="45720" rtlCol="0" anchor="b">
            <a:normAutofit/>
          </a:bodyPr>
          <a:lstStyle/>
          <a:p>
            <a:r>
              <a:rPr lang="en-US" sz="3600" b="1" dirty="0"/>
              <a:t>Count of tickets by category</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6E408E1-2E77-B4FB-C0D7-EA6576D1F010}"/>
              </a:ext>
            </a:extLst>
          </p:cNvPr>
          <p:cNvSpPr>
            <a:spLocks noGrp="1"/>
          </p:cNvSpPr>
          <p:nvPr>
            <p:ph type="body" sz="half" idx="2"/>
          </p:nvPr>
        </p:nvSpPr>
        <p:spPr>
          <a:xfrm>
            <a:off x="572493" y="2479530"/>
            <a:ext cx="6749837" cy="3375316"/>
          </a:xfrm>
        </p:spPr>
        <p:txBody>
          <a:bodyPr vert="horz" lIns="91440" tIns="45720" rIns="91440" bIns="45720" rtlCol="0" anchor="t">
            <a:normAutofit/>
          </a:bodyPr>
          <a:lstStyle/>
          <a:p>
            <a:pPr marL="285750" indent="-228600">
              <a:buFont typeface="Arial" panose="020B0604020202020204" pitchFamily="34" charset="0"/>
              <a:buChar char="•"/>
            </a:pPr>
            <a:r>
              <a:rPr lang="en-US" dirty="0">
                <a:ea typeface="+mn-lt"/>
                <a:cs typeface="+mn-lt"/>
              </a:rPr>
              <a:t>System issues are the most frequent source of tickets with huge portion of 39000 tickets.</a:t>
            </a:r>
            <a:endParaRPr lang="en-US" dirty="0"/>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ea typeface="+mn-lt"/>
                <a:cs typeface="+mn-lt"/>
              </a:rPr>
              <a:t>Users frequently encounter difficulties accessing accounts or systems results in 29191 tickets for login access issues.</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ea typeface="+mn-lt"/>
                <a:cs typeface="+mn-lt"/>
              </a:rPr>
              <a:t>Software-related problems are a significant source of support requests with 19569 tickets.</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r>
              <a:rPr lang="en-US" dirty="0">
                <a:ea typeface="+mn-lt"/>
                <a:cs typeface="+mn-lt"/>
              </a:rPr>
              <a:t>Hardware issues appear to be the least frequent category, with around 9,733 tickets.</a:t>
            </a:r>
          </a:p>
          <a:p>
            <a:pPr indent="-22860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C0A882B6-5442-619B-5B42-FB99A86D4510}"/>
              </a:ext>
            </a:extLst>
          </p:cNvPr>
          <p:cNvPicPr>
            <a:picLocks noChangeAspect="1"/>
          </p:cNvPicPr>
          <p:nvPr/>
        </p:nvPicPr>
        <p:blipFill>
          <a:blip r:embed="rId2"/>
          <a:srcRect t="15789" r="41"/>
          <a:stretch/>
        </p:blipFill>
        <p:spPr>
          <a:xfrm>
            <a:off x="7318689" y="2582943"/>
            <a:ext cx="4072293" cy="2574896"/>
          </a:xfrm>
          <a:prstGeom prst="rect">
            <a:avLst/>
          </a:prstGeom>
        </p:spPr>
      </p:pic>
    </p:spTree>
    <p:extLst>
      <p:ext uri="{BB962C8B-B14F-4D97-AF65-F5344CB8AC3E}">
        <p14:creationId xmlns:p14="http://schemas.microsoft.com/office/powerpoint/2010/main" val="387215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74380-44BB-C284-AE44-41B394B65554}"/>
              </a:ext>
            </a:extLst>
          </p:cNvPr>
          <p:cNvSpPr>
            <a:spLocks noGrp="1"/>
          </p:cNvSpPr>
          <p:nvPr>
            <p:ph type="title"/>
          </p:nvPr>
        </p:nvSpPr>
        <p:spPr>
          <a:xfrm>
            <a:off x="572493" y="283895"/>
            <a:ext cx="10973164" cy="1389059"/>
          </a:xfrm>
        </p:spPr>
        <p:txBody>
          <a:bodyPr vert="horz" lIns="91440" tIns="45720" rIns="91440" bIns="45720" rtlCol="0" anchor="b">
            <a:normAutofit/>
          </a:bodyPr>
          <a:lstStyle/>
          <a:p>
            <a:r>
              <a:rPr lang="en-US" sz="3600" b="1" dirty="0"/>
              <a:t>Count of Tickets by Severity</a:t>
            </a:r>
            <a:endParaRPr lang="en-US" sz="3600"/>
          </a:p>
          <a:p>
            <a:endParaRPr lang="en-US" sz="3600" b="1"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6E408E1-2E77-B4FB-C0D7-EA6576D1F010}"/>
              </a:ext>
            </a:extLst>
          </p:cNvPr>
          <p:cNvSpPr>
            <a:spLocks noGrp="1"/>
          </p:cNvSpPr>
          <p:nvPr>
            <p:ph type="body" sz="half" idx="2"/>
          </p:nvPr>
        </p:nvSpPr>
        <p:spPr>
          <a:xfrm>
            <a:off x="572493" y="2334388"/>
            <a:ext cx="6205551" cy="4010316"/>
          </a:xfrm>
        </p:spPr>
        <p:txBody>
          <a:bodyPr vert="horz" lIns="91440" tIns="45720" rIns="91440" bIns="45720" rtlCol="0" anchor="t">
            <a:normAutofit/>
          </a:bodyPr>
          <a:lstStyle/>
          <a:p>
            <a:pPr marL="285750" indent="-285750">
              <a:buFont typeface="Arial,Sans-Serif" panose="020B0604020202020204" pitchFamily="34" charset="0"/>
              <a:buChar char="•"/>
            </a:pPr>
            <a:r>
              <a:rPr lang="en-US" dirty="0"/>
              <a:t>The number of IT Requests are significantly higher than the number of IT Errors.</a:t>
            </a:r>
          </a:p>
          <a:p>
            <a:pPr marL="285750" indent="-285750">
              <a:buFont typeface="Arial,Sans-Serif" panose="020B0604020202020204" pitchFamily="34" charset="0"/>
              <a:buChar char="•"/>
            </a:pPr>
            <a:endParaRPr lang="en-US" dirty="0"/>
          </a:p>
          <a:p>
            <a:pPr marL="285750" indent="-285750">
              <a:buFont typeface="Arial,Sans-Serif" panose="020B0604020202020204" pitchFamily="34" charset="0"/>
              <a:buChar char="•"/>
            </a:pPr>
            <a:r>
              <a:rPr lang="en-US" dirty="0"/>
              <a:t>The "Normal" severity level has the highest number of tickets for both IT Errors and IT Requests.</a:t>
            </a:r>
          </a:p>
          <a:p>
            <a:pPr marL="285750" indent="-285750">
              <a:buFont typeface="Arial,Sans-Serif" panose="020B0604020202020204" pitchFamily="34" charset="0"/>
              <a:buChar char="•"/>
            </a:pPr>
            <a:endParaRPr lang="en-US" dirty="0"/>
          </a:p>
          <a:p>
            <a:pPr marL="285750" indent="-285750">
              <a:buFont typeface="Arial,Sans-Serif" panose="020B0604020202020204" pitchFamily="34" charset="0"/>
              <a:buChar char="•"/>
            </a:pPr>
            <a:r>
              <a:rPr lang="en-US" dirty="0"/>
              <a:t>The number of "Urgent" tickets is comparatively low for both IT Errors and IT Requests.</a:t>
            </a:r>
          </a:p>
          <a:p>
            <a:pPr marL="285750" indent="-285750">
              <a:buFont typeface="Arial,Sans-Serif" panose="020B0604020202020204" pitchFamily="34" charset="0"/>
              <a:buChar char="•"/>
            </a:pPr>
            <a:endParaRPr lang="en-US" dirty="0"/>
          </a:p>
          <a:p>
            <a:pPr marL="285750" indent="-285750">
              <a:buFont typeface="Arial,Sans-Serif" panose="020B0604020202020204" pitchFamily="34" charset="0"/>
              <a:buChar char="•"/>
            </a:pPr>
            <a:r>
              <a:rPr lang="en-US" dirty="0"/>
              <a:t>The " Minor" severity level also sees a significant number of tickets, indicating that minor issues are frequently reported.</a:t>
            </a:r>
          </a:p>
        </p:txBody>
      </p:sp>
      <p:pic>
        <p:nvPicPr>
          <p:cNvPr id="3" name="Picture 2">
            <a:extLst>
              <a:ext uri="{FF2B5EF4-FFF2-40B4-BE49-F238E27FC236}">
                <a16:creationId xmlns:a16="http://schemas.microsoft.com/office/drawing/2014/main" id="{6BED73DC-0953-2252-A665-4DDB62AB061F}"/>
              </a:ext>
            </a:extLst>
          </p:cNvPr>
          <p:cNvPicPr>
            <a:picLocks noChangeAspect="1"/>
          </p:cNvPicPr>
          <p:nvPr/>
        </p:nvPicPr>
        <p:blipFill>
          <a:blip r:embed="rId2"/>
          <a:stretch>
            <a:fillRect/>
          </a:stretch>
        </p:blipFill>
        <p:spPr>
          <a:xfrm>
            <a:off x="7388000" y="2333625"/>
            <a:ext cx="4301217" cy="3487964"/>
          </a:xfrm>
          <a:prstGeom prst="rect">
            <a:avLst/>
          </a:prstGeom>
        </p:spPr>
      </p:pic>
    </p:spTree>
    <p:extLst>
      <p:ext uri="{BB962C8B-B14F-4D97-AF65-F5344CB8AC3E}">
        <p14:creationId xmlns:p14="http://schemas.microsoft.com/office/powerpoint/2010/main" val="1803467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8307FAD-6896-F837-7910-76077FBA8B36}"/>
              </a:ext>
            </a:extLst>
          </p:cNvPr>
          <p:cNvSpPr txBox="1"/>
          <p:nvPr/>
        </p:nvSpPr>
        <p:spPr>
          <a:xfrm>
            <a:off x="572493" y="907404"/>
            <a:ext cx="9936712" cy="50924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3200" b="1" dirty="0">
                <a:latin typeface="+mj-lt"/>
                <a:ea typeface="+mj-ea"/>
                <a:cs typeface="+mj-cs"/>
              </a:rPr>
              <a:t>Distribution of Tickets by resolution time</a:t>
            </a:r>
            <a:endParaRPr lang="en-US" sz="3200"/>
          </a:p>
          <a:p>
            <a:pPr>
              <a:lnSpc>
                <a:spcPct val="90000"/>
              </a:lnSpc>
              <a:spcBef>
                <a:spcPct val="0"/>
              </a:spcBef>
              <a:spcAft>
                <a:spcPts val="600"/>
              </a:spcAft>
            </a:pPr>
            <a:r>
              <a:rPr lang="en-US" sz="3200" b="1" dirty="0">
                <a:latin typeface="+mj-lt"/>
                <a:ea typeface="+mj-ea"/>
                <a:cs typeface="+mj-cs"/>
              </a:rPr>
              <a:t>(in days) by category</a:t>
            </a:r>
            <a:endParaRPr lang="en-US" sz="3200">
              <a:ea typeface="+mj-ea"/>
              <a:cs typeface="+mj-cs"/>
            </a:endParaRPr>
          </a:p>
        </p:txBody>
      </p:sp>
      <p:sp>
        <p:nvSpPr>
          <p:cNvPr id="2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5979F615-A107-C07B-CC7D-32B9CE4B0351}"/>
              </a:ext>
            </a:extLst>
          </p:cNvPr>
          <p:cNvSpPr>
            <a:spLocks noGrp="1"/>
          </p:cNvSpPr>
          <p:nvPr>
            <p:ph type="body" sz="half" idx="2"/>
          </p:nvPr>
        </p:nvSpPr>
        <p:spPr>
          <a:xfrm>
            <a:off x="572493" y="2291450"/>
            <a:ext cx="6569620" cy="3189378"/>
          </a:xfrm>
        </p:spPr>
        <p:txBody>
          <a:bodyPr vert="horz" lIns="91440" tIns="45720" rIns="91440" bIns="45720" rtlCol="0" anchor="t">
            <a:noAutofit/>
          </a:bodyPr>
          <a:lstStyle/>
          <a:p>
            <a:pPr marL="171450" indent="-228600">
              <a:spcBef>
                <a:spcPct val="0"/>
              </a:spcBef>
              <a:buFont typeface="Arial" panose="020B0604020202020204" pitchFamily="34" charset="0"/>
              <a:buChar char="•"/>
            </a:pPr>
            <a:r>
              <a:rPr lang="en-US" dirty="0"/>
              <a:t>Hardware-related tickets take the longest time to resolve, with an average of </a:t>
            </a:r>
            <a:r>
              <a:rPr lang="en-US" b="1" dirty="0"/>
              <a:t>7.63 days</a:t>
            </a:r>
            <a:r>
              <a:rPr lang="en-US" dirty="0"/>
              <a:t>, accounting for </a:t>
            </a:r>
            <a:r>
              <a:rPr lang="en-US" b="1" dirty="0"/>
              <a:t>38.5%</a:t>
            </a:r>
            <a:r>
              <a:rPr lang="en-US" dirty="0"/>
              <a:t> of the total distribution.</a:t>
            </a:r>
          </a:p>
          <a:p>
            <a:pPr marL="171450" indent="-228600">
              <a:spcBef>
                <a:spcPct val="0"/>
              </a:spcBef>
              <a:buFont typeface="Arial" panose="020B0604020202020204" pitchFamily="34" charset="0"/>
              <a:buChar char="•"/>
            </a:pPr>
            <a:endParaRPr lang="en-US" dirty="0"/>
          </a:p>
          <a:p>
            <a:pPr marL="171450" indent="-228600">
              <a:spcBef>
                <a:spcPct val="0"/>
              </a:spcBef>
              <a:buFont typeface="Arial" panose="020B0604020202020204" pitchFamily="34" charset="0"/>
              <a:buChar char="•"/>
            </a:pPr>
            <a:endParaRPr lang="en-US"/>
          </a:p>
          <a:p>
            <a:pPr marL="171450" indent="-228600">
              <a:spcBef>
                <a:spcPct val="0"/>
              </a:spcBef>
              <a:buFont typeface="Arial" panose="020B0604020202020204" pitchFamily="34" charset="0"/>
              <a:buChar char="•"/>
            </a:pPr>
            <a:r>
              <a:rPr lang="en-US" dirty="0"/>
              <a:t>System-related tickets account for </a:t>
            </a:r>
            <a:r>
              <a:rPr lang="en-US" b="1" dirty="0"/>
              <a:t>33.4%</a:t>
            </a:r>
            <a:r>
              <a:rPr lang="en-US" dirty="0"/>
              <a:t> of the total distribution, with an average resolution time of </a:t>
            </a:r>
            <a:r>
              <a:rPr lang="en-US" b="1" dirty="0"/>
              <a:t>6.62 days</a:t>
            </a:r>
            <a:r>
              <a:rPr lang="en-US" dirty="0"/>
              <a:t>.</a:t>
            </a:r>
          </a:p>
          <a:p>
            <a:pPr marL="171450" indent="-228600">
              <a:spcBef>
                <a:spcPct val="0"/>
              </a:spcBef>
              <a:buFont typeface="Arial" panose="020B0604020202020204" pitchFamily="34" charset="0"/>
              <a:buChar char="•"/>
            </a:pPr>
            <a:endParaRPr lang="en-US" dirty="0"/>
          </a:p>
          <a:p>
            <a:pPr indent="-228600">
              <a:spcBef>
                <a:spcPct val="0"/>
              </a:spcBef>
              <a:buFont typeface="Arial" panose="020B0604020202020204" pitchFamily="34" charset="0"/>
              <a:buChar char="•"/>
            </a:pPr>
            <a:endParaRPr lang="en-US"/>
          </a:p>
          <a:p>
            <a:pPr marL="171450" indent="-228600">
              <a:spcBef>
                <a:spcPct val="0"/>
              </a:spcBef>
              <a:buFont typeface="Arial" panose="020B0604020202020204" pitchFamily="34" charset="0"/>
              <a:buChar char="•"/>
            </a:pPr>
            <a:r>
              <a:rPr lang="en-US" dirty="0"/>
              <a:t>Software-related issues account for </a:t>
            </a:r>
            <a:r>
              <a:rPr lang="en-US" b="1" dirty="0"/>
              <a:t>26.5%</a:t>
            </a:r>
            <a:r>
              <a:rPr lang="en-US" dirty="0"/>
              <a:t> of the total distribution, with an average resolution time of </a:t>
            </a:r>
            <a:r>
              <a:rPr lang="en-US" b="1" dirty="0"/>
              <a:t>5.24 days</a:t>
            </a:r>
            <a:r>
              <a:rPr lang="en-US" dirty="0"/>
              <a:t>.</a:t>
            </a:r>
          </a:p>
          <a:p>
            <a:pPr marL="171450" indent="-228600">
              <a:spcBef>
                <a:spcPct val="0"/>
              </a:spcBef>
              <a:buFont typeface="Arial" panose="020B0604020202020204" pitchFamily="34" charset="0"/>
              <a:buChar char="•"/>
            </a:pPr>
            <a:endParaRPr lang="en-US" dirty="0"/>
          </a:p>
          <a:p>
            <a:pPr marL="171450" indent="-228600">
              <a:spcBef>
                <a:spcPct val="0"/>
              </a:spcBef>
              <a:buFont typeface="Arial" panose="020B0604020202020204" pitchFamily="34" charset="0"/>
              <a:buChar char="•"/>
            </a:pPr>
            <a:endParaRPr lang="en-US"/>
          </a:p>
          <a:p>
            <a:pPr marL="171450" indent="-228600">
              <a:spcBef>
                <a:spcPct val="0"/>
              </a:spcBef>
              <a:buFont typeface="Arial" panose="020B0604020202020204" pitchFamily="34" charset="0"/>
              <a:buChar char="•"/>
            </a:pPr>
            <a:r>
              <a:rPr lang="en-US" dirty="0"/>
              <a:t>Login Access represents the smallest portion of tickets at </a:t>
            </a:r>
            <a:r>
              <a:rPr lang="en-US" b="1" dirty="0"/>
              <a:t>1.8%</a:t>
            </a:r>
            <a:r>
              <a:rPr lang="en-US" dirty="0"/>
              <a:t> and has a much shorter average resolution time.</a:t>
            </a:r>
            <a:br>
              <a:rPr lang="en-US" dirty="0"/>
            </a:br>
            <a:endParaRPr lang="en-US"/>
          </a:p>
          <a:p>
            <a:pPr indent="-228600">
              <a:buFont typeface="Arial" panose="020B0604020202020204" pitchFamily="34" charset="0"/>
              <a:buChar char="•"/>
            </a:pPr>
            <a:endParaRPr lang="en-US"/>
          </a:p>
        </p:txBody>
      </p:sp>
      <p:pic>
        <p:nvPicPr>
          <p:cNvPr id="8" name="Picture Placeholder 7" descr="A pie chart with numbers and text&#10;&#10;Description automatically generated">
            <a:extLst>
              <a:ext uri="{FF2B5EF4-FFF2-40B4-BE49-F238E27FC236}">
                <a16:creationId xmlns:a16="http://schemas.microsoft.com/office/drawing/2014/main" id="{CF972537-98A4-4FE8-FFA6-196DB1DB2CFE}"/>
              </a:ext>
            </a:extLst>
          </p:cNvPr>
          <p:cNvPicPr>
            <a:picLocks noGrp="1" noChangeAspect="1"/>
          </p:cNvPicPr>
          <p:nvPr>
            <p:ph type="pic" idx="1"/>
          </p:nvPr>
        </p:nvPicPr>
        <p:blipFill>
          <a:blip r:embed="rId2"/>
          <a:srcRect t="-687" b="-581"/>
          <a:stretch/>
        </p:blipFill>
        <p:spPr>
          <a:xfrm>
            <a:off x="7694021" y="2268259"/>
            <a:ext cx="3390900" cy="2902487"/>
          </a:xfrm>
        </p:spPr>
      </p:pic>
    </p:spTree>
    <p:extLst>
      <p:ext uri="{BB962C8B-B14F-4D97-AF65-F5344CB8AC3E}">
        <p14:creationId xmlns:p14="http://schemas.microsoft.com/office/powerpoint/2010/main" val="333198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C0B833-9470-385D-9138-22B40A02C546}"/>
              </a:ext>
            </a:extLst>
          </p:cNvPr>
          <p:cNvSpPr>
            <a:spLocks noGrp="1"/>
          </p:cNvSpPr>
          <p:nvPr>
            <p:ph type="title"/>
          </p:nvPr>
        </p:nvSpPr>
        <p:spPr>
          <a:xfrm>
            <a:off x="572493" y="645516"/>
            <a:ext cx="10836680" cy="606854"/>
          </a:xfrm>
        </p:spPr>
        <p:txBody>
          <a:bodyPr vert="horz" lIns="91440" tIns="45720" rIns="91440" bIns="45720" rtlCol="0" anchor="b">
            <a:normAutofit/>
          </a:bodyPr>
          <a:lstStyle/>
          <a:p>
            <a:r>
              <a:rPr lang="en-US" sz="3600" b="1" dirty="0"/>
              <a:t>Ticket Volume Over Time</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5226CA56-1A04-01E3-A090-08862968CC4B}"/>
              </a:ext>
            </a:extLst>
          </p:cNvPr>
          <p:cNvSpPr>
            <a:spLocks noGrp="1"/>
          </p:cNvSpPr>
          <p:nvPr>
            <p:ph type="body" sz="half" idx="2"/>
          </p:nvPr>
        </p:nvSpPr>
        <p:spPr>
          <a:xfrm>
            <a:off x="572493" y="2325920"/>
            <a:ext cx="5429644" cy="3864568"/>
          </a:xfrm>
        </p:spPr>
        <p:txBody>
          <a:bodyPr vert="horz" lIns="91440" tIns="45720" rIns="91440" bIns="45720" rtlCol="0" anchor="t">
            <a:normAutofit/>
          </a:bodyPr>
          <a:lstStyle/>
          <a:p>
            <a:pPr marL="285750" indent="-228600">
              <a:spcBef>
                <a:spcPts val="0"/>
              </a:spcBef>
              <a:buFont typeface="Arial" panose="020B0604020202020204" pitchFamily="34" charset="0"/>
              <a:buChar char="•"/>
            </a:pPr>
            <a:r>
              <a:rPr lang="en-US" sz="1400" dirty="0"/>
              <a:t>The growth appears gradual from 2016 to around 2019 and accelerates after 2020-Q1.</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a:p>
          <a:p>
            <a:pPr marL="285750" indent="-228600">
              <a:spcBef>
                <a:spcPts val="0"/>
              </a:spcBef>
              <a:buFont typeface="Arial" panose="020B0604020202020204" pitchFamily="34" charset="0"/>
              <a:buChar char="•"/>
            </a:pPr>
            <a:r>
              <a:rPr lang="en-US" sz="1400" dirty="0"/>
              <a:t>The rate of increase is much sharper starting from 2020. This could be due to specific events or changes in organizational demand.</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a:p>
          <a:p>
            <a:pPr marL="285750" indent="-228600">
              <a:spcBef>
                <a:spcPts val="0"/>
              </a:spcBef>
              <a:buFont typeface="Arial" panose="020B0604020202020204" pitchFamily="34" charset="0"/>
              <a:buChar char="•"/>
            </a:pPr>
            <a:r>
              <a:rPr lang="en-US" sz="1400" dirty="0"/>
              <a:t>The highest ticket counts occur in 2020-Q3 and 2020-Q4, with both quarters showing a sharp rise compared to previous periods.</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r>
              <a:rPr lang="en-US" sz="1400" dirty="0"/>
              <a:t>The period from 2017-Q1 to 2019-Q4 shows steady but slower growth compared to the spike that happens in 2020.</a:t>
            </a:r>
            <a:endParaRPr lang="en-US"/>
          </a:p>
          <a:p>
            <a:pPr indent="-228600">
              <a:buFont typeface="Arial" panose="020B0604020202020204" pitchFamily="34" charset="0"/>
              <a:buChar char="•"/>
            </a:pPr>
            <a:endParaRPr lang="en-US" sz="1400"/>
          </a:p>
        </p:txBody>
      </p:sp>
      <p:pic>
        <p:nvPicPr>
          <p:cNvPr id="5" name="Picture Placeholder 4">
            <a:extLst>
              <a:ext uri="{FF2B5EF4-FFF2-40B4-BE49-F238E27FC236}">
                <a16:creationId xmlns:a16="http://schemas.microsoft.com/office/drawing/2014/main" id="{7694BA82-D47F-120A-8EC5-8F76C2775F0C}"/>
              </a:ext>
            </a:extLst>
          </p:cNvPr>
          <p:cNvPicPr>
            <a:picLocks noGrp="1" noChangeAspect="1"/>
          </p:cNvPicPr>
          <p:nvPr>
            <p:ph type="pic" idx="1"/>
          </p:nvPr>
        </p:nvPicPr>
        <p:blipFill>
          <a:blip r:embed="rId2"/>
          <a:srcRect l="1302" t="13953" r="2171" b="233"/>
          <a:stretch/>
        </p:blipFill>
        <p:spPr>
          <a:xfrm>
            <a:off x="6229067" y="2415891"/>
            <a:ext cx="5649361" cy="3121011"/>
          </a:xfrm>
          <a:prstGeom prst="rect">
            <a:avLst/>
          </a:prstGeom>
        </p:spPr>
      </p:pic>
    </p:spTree>
    <p:extLst>
      <p:ext uri="{BB962C8B-B14F-4D97-AF65-F5344CB8AC3E}">
        <p14:creationId xmlns:p14="http://schemas.microsoft.com/office/powerpoint/2010/main" val="1006162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C0B833-9470-385D-9138-22B40A02C546}"/>
              </a:ext>
            </a:extLst>
          </p:cNvPr>
          <p:cNvSpPr>
            <a:spLocks noGrp="1"/>
          </p:cNvSpPr>
          <p:nvPr>
            <p:ph type="title"/>
          </p:nvPr>
        </p:nvSpPr>
        <p:spPr>
          <a:xfrm>
            <a:off x="572493" y="645516"/>
            <a:ext cx="10836680" cy="606854"/>
          </a:xfrm>
        </p:spPr>
        <p:txBody>
          <a:bodyPr vert="horz" lIns="91440" tIns="45720" rIns="91440" bIns="45720" rtlCol="0" anchor="b">
            <a:normAutofit/>
          </a:bodyPr>
          <a:lstStyle/>
          <a:p>
            <a:r>
              <a:rPr lang="en-US" sz="3600" b="1" dirty="0"/>
              <a:t>Average resolution time for each category</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5226CA56-1A04-01E3-A090-08862968CC4B}"/>
              </a:ext>
            </a:extLst>
          </p:cNvPr>
          <p:cNvSpPr>
            <a:spLocks noGrp="1"/>
          </p:cNvSpPr>
          <p:nvPr>
            <p:ph type="body" sz="half" idx="2"/>
          </p:nvPr>
        </p:nvSpPr>
        <p:spPr>
          <a:xfrm>
            <a:off x="716426" y="2325920"/>
            <a:ext cx="5277245" cy="3864568"/>
          </a:xfrm>
        </p:spPr>
        <p:txBody>
          <a:bodyPr vert="horz" lIns="91440" tIns="45720" rIns="91440" bIns="45720" rtlCol="0" anchor="t">
            <a:normAutofit/>
          </a:bodyPr>
          <a:lstStyle/>
          <a:p>
            <a:pPr marL="285750" indent="-228600">
              <a:spcBef>
                <a:spcPts val="0"/>
              </a:spcBef>
              <a:buFont typeface="Arial" panose="020B0604020202020204" pitchFamily="34" charset="0"/>
              <a:buChar char="•"/>
            </a:pPr>
            <a:r>
              <a:rPr lang="en-US" sz="1400" dirty="0">
                <a:ea typeface="+mn-lt"/>
                <a:cs typeface="+mn-lt"/>
              </a:rPr>
              <a:t>Login Access issues have the shortest average resolution time at </a:t>
            </a:r>
            <a:r>
              <a:rPr lang="en-US" sz="1400" b="1" dirty="0">
                <a:ea typeface="+mn-lt"/>
                <a:cs typeface="+mn-lt"/>
              </a:rPr>
              <a:t>0.31</a:t>
            </a:r>
            <a:r>
              <a:rPr lang="en-US" sz="1400" dirty="0">
                <a:ea typeface="+mn-lt"/>
                <a:cs typeface="+mn-lt"/>
              </a:rPr>
              <a:t> days.</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a:p>
          <a:p>
            <a:pPr marL="285750" indent="-228600">
              <a:spcBef>
                <a:spcPts val="0"/>
              </a:spcBef>
              <a:buFont typeface="Arial" panose="020B0604020202020204" pitchFamily="34" charset="0"/>
              <a:buChar char="•"/>
            </a:pPr>
            <a:r>
              <a:rPr lang="en-US" sz="1400" dirty="0">
                <a:ea typeface="+mn-lt"/>
                <a:cs typeface="+mn-lt"/>
              </a:rPr>
              <a:t>Software issues have an average resolution time of</a:t>
            </a:r>
            <a:r>
              <a:rPr lang="en-US" sz="1400" b="1" dirty="0">
                <a:ea typeface="+mn-lt"/>
                <a:cs typeface="+mn-lt"/>
              </a:rPr>
              <a:t> 5.24</a:t>
            </a:r>
            <a:r>
              <a:rPr lang="en-US" sz="1400" dirty="0">
                <a:ea typeface="+mn-lt"/>
                <a:cs typeface="+mn-lt"/>
              </a:rPr>
              <a:t> days. </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b="1" dirty="0"/>
          </a:p>
          <a:p>
            <a:pPr marL="285750" indent="-228600">
              <a:spcBef>
                <a:spcPts val="0"/>
              </a:spcBef>
              <a:buFont typeface="Arial" panose="020B0604020202020204" pitchFamily="34" charset="0"/>
              <a:buChar char="•"/>
            </a:pPr>
            <a:r>
              <a:rPr lang="en-US" sz="1400" dirty="0">
                <a:ea typeface="+mn-lt"/>
                <a:cs typeface="+mn-lt"/>
              </a:rPr>
              <a:t>System issues have an average resolution time of </a:t>
            </a:r>
            <a:r>
              <a:rPr lang="en-US" sz="1400" b="1" dirty="0">
                <a:ea typeface="+mn-lt"/>
                <a:cs typeface="+mn-lt"/>
              </a:rPr>
              <a:t>6.62</a:t>
            </a:r>
            <a:r>
              <a:rPr lang="en-US" sz="1400" dirty="0">
                <a:ea typeface="+mn-lt"/>
                <a:cs typeface="+mn-lt"/>
              </a:rPr>
              <a:t> days</a:t>
            </a:r>
            <a:r>
              <a:rPr lang="en-US" sz="1400" b="1" dirty="0">
                <a:ea typeface="+mn-lt"/>
                <a:cs typeface="+mn-lt"/>
              </a:rPr>
              <a:t>,</a:t>
            </a:r>
            <a:r>
              <a:rPr lang="en-US" sz="1400" dirty="0">
                <a:ea typeface="+mn-lt"/>
                <a:cs typeface="+mn-lt"/>
              </a:rPr>
              <a:t> suggesting that they take even longer to resolve than software issues.</a:t>
            </a:r>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endParaRPr lang="en-US" sz="1400" dirty="0"/>
          </a:p>
          <a:p>
            <a:pPr marL="285750" indent="-228600">
              <a:spcBef>
                <a:spcPts val="0"/>
              </a:spcBef>
              <a:buFont typeface="Arial" panose="020B0604020202020204" pitchFamily="34" charset="0"/>
              <a:buChar char="•"/>
            </a:pPr>
            <a:r>
              <a:rPr lang="en-US" sz="1400" dirty="0">
                <a:ea typeface="+mn-lt"/>
                <a:cs typeface="+mn-lt"/>
              </a:rPr>
              <a:t>Hardware issues have the longest average resolution time at </a:t>
            </a:r>
            <a:r>
              <a:rPr lang="en-US" sz="1400" b="1" dirty="0">
                <a:ea typeface="+mn-lt"/>
                <a:cs typeface="+mn-lt"/>
              </a:rPr>
              <a:t>7.63</a:t>
            </a:r>
            <a:r>
              <a:rPr lang="en-US" sz="1400" dirty="0">
                <a:ea typeface="+mn-lt"/>
                <a:cs typeface="+mn-lt"/>
              </a:rPr>
              <a:t> days</a:t>
            </a:r>
            <a:r>
              <a:rPr lang="en-US" sz="1400" b="1" dirty="0">
                <a:ea typeface="+mn-lt"/>
                <a:cs typeface="+mn-lt"/>
              </a:rPr>
              <a:t> </a:t>
            </a:r>
            <a:r>
              <a:rPr lang="en-US" sz="1400" dirty="0">
                <a:ea typeface="+mn-lt"/>
                <a:cs typeface="+mn-lt"/>
              </a:rPr>
              <a:t>implies that hardware problems are the most time-consuming to fix.</a:t>
            </a:r>
            <a:endParaRPr lang="en-US" dirty="0">
              <a:ea typeface="+mn-lt"/>
              <a:cs typeface="+mn-lt"/>
            </a:endParaRPr>
          </a:p>
          <a:p>
            <a:pPr indent="-228600">
              <a:buFont typeface="Arial" panose="020B0604020202020204" pitchFamily="34" charset="0"/>
              <a:buChar char="•"/>
            </a:pPr>
            <a:endParaRPr lang="en-US" sz="1400"/>
          </a:p>
        </p:txBody>
      </p:sp>
      <p:pic>
        <p:nvPicPr>
          <p:cNvPr id="7" name="Picture Placeholder 6">
            <a:extLst>
              <a:ext uri="{FF2B5EF4-FFF2-40B4-BE49-F238E27FC236}">
                <a16:creationId xmlns:a16="http://schemas.microsoft.com/office/drawing/2014/main" id="{C55D53AF-F319-353D-08FC-8C3CDEE8DD3E}"/>
              </a:ext>
            </a:extLst>
          </p:cNvPr>
          <p:cNvPicPr>
            <a:picLocks noGrp="1" noChangeAspect="1"/>
          </p:cNvPicPr>
          <p:nvPr>
            <p:ph type="pic" idx="1"/>
          </p:nvPr>
        </p:nvPicPr>
        <p:blipFill>
          <a:blip r:embed="rId2"/>
          <a:srcRect l="2727" r="2727"/>
          <a:stretch/>
        </p:blipFill>
        <p:spPr>
          <a:xfrm>
            <a:off x="6678505" y="2320306"/>
            <a:ext cx="4032250" cy="3086100"/>
          </a:xfrm>
        </p:spPr>
      </p:pic>
    </p:spTree>
    <p:extLst>
      <p:ext uri="{BB962C8B-B14F-4D97-AF65-F5344CB8AC3E}">
        <p14:creationId xmlns:p14="http://schemas.microsoft.com/office/powerpoint/2010/main" val="227922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BAAA21C-9FE8-87B2-9836-C78F80CECF4B}"/>
              </a:ext>
            </a:extLst>
          </p:cNvPr>
          <p:cNvSpPr txBox="1"/>
          <p:nvPr/>
        </p:nvSpPr>
        <p:spPr>
          <a:xfrm>
            <a:off x="572493" y="567584"/>
            <a:ext cx="10975225" cy="81096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dirty="0">
                <a:latin typeface="+mj-lt"/>
                <a:ea typeface="+mj-ea"/>
                <a:cs typeface="+mj-cs"/>
              </a:rPr>
              <a:t>Distribution of Tickets by Priority</a:t>
            </a:r>
          </a:p>
        </p:txBody>
      </p:sp>
      <p:sp>
        <p:nvSpPr>
          <p:cNvPr id="2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456E9E6-637E-8FA1-C01B-591F54570230}"/>
              </a:ext>
            </a:extLst>
          </p:cNvPr>
          <p:cNvSpPr>
            <a:spLocks noGrp="1"/>
          </p:cNvSpPr>
          <p:nvPr>
            <p:ph type="body" sz="half" idx="2"/>
          </p:nvPr>
        </p:nvSpPr>
        <p:spPr>
          <a:xfrm>
            <a:off x="572493" y="2432414"/>
            <a:ext cx="5521766" cy="2915335"/>
          </a:xfrm>
        </p:spPr>
        <p:txBody>
          <a:bodyPr vert="horz" lIns="91440" tIns="45720" rIns="91440" bIns="45720" rtlCol="0" anchor="t">
            <a:noAutofit/>
          </a:bodyPr>
          <a:lstStyle/>
          <a:p>
            <a:pPr>
              <a:buChar char="•"/>
            </a:pPr>
            <a:r>
              <a:rPr lang="en-US" sz="1400" dirty="0">
                <a:ea typeface="+mn-lt"/>
                <a:cs typeface="+mn-lt"/>
              </a:rPr>
              <a:t>    A large portion of tickets are currently unassigned, accounting for 36.2% of the total.</a:t>
            </a:r>
          </a:p>
          <a:p>
            <a:pPr>
              <a:buChar char="•"/>
            </a:pPr>
            <a:endParaRPr lang="en-US" sz="1400" dirty="0">
              <a:ea typeface="+mn-lt"/>
              <a:cs typeface="+mn-lt"/>
            </a:endParaRPr>
          </a:p>
          <a:p>
            <a:pPr>
              <a:buChar char="•"/>
            </a:pPr>
            <a:r>
              <a:rPr lang="en-US" sz="1400" dirty="0">
                <a:ea typeface="+mn-lt"/>
                <a:cs typeface="+mn-lt"/>
              </a:rPr>
              <a:t>    Low-priority tickets constitute the second-largest segment at 30.1%.</a:t>
            </a:r>
          </a:p>
          <a:p>
            <a:pPr>
              <a:buChar char="•"/>
            </a:pPr>
            <a:endParaRPr lang="en-US" sz="1400" dirty="0">
              <a:ea typeface="+mn-lt"/>
              <a:cs typeface="+mn-lt"/>
            </a:endParaRPr>
          </a:p>
          <a:p>
            <a:pPr>
              <a:buChar char="•"/>
            </a:pPr>
            <a:r>
              <a:rPr lang="en-US" sz="1400" dirty="0">
                <a:ea typeface="+mn-lt"/>
                <a:cs typeface="+mn-lt"/>
              </a:rPr>
              <a:t>    High-priority tickets make up only 17.4% of the total, suggesting that most issues are not considered critical or urgent.</a:t>
            </a:r>
            <a:endParaRPr lang="en-US" dirty="0">
              <a:ea typeface="+mn-lt"/>
              <a:cs typeface="+mn-lt"/>
            </a:endParaRPr>
          </a:p>
          <a:p>
            <a:pPr>
              <a:buChar char="•"/>
            </a:pPr>
            <a:endParaRPr lang="en-US" sz="1400" dirty="0">
              <a:ea typeface="+mn-lt"/>
              <a:cs typeface="+mn-lt"/>
            </a:endParaRPr>
          </a:p>
          <a:p>
            <a:pPr>
              <a:buChar char="•"/>
            </a:pPr>
            <a:r>
              <a:rPr lang="en-US" sz="1400" dirty="0">
                <a:ea typeface="+mn-lt"/>
                <a:cs typeface="+mn-lt"/>
              </a:rPr>
              <a:t>     Mid-priority tickets represent the smallest segment at 16.3%, indicating that a relatively small portion of issues require immediate attention.</a:t>
            </a:r>
            <a:endParaRPr lang="en-US" dirty="0">
              <a:ea typeface="+mn-lt"/>
              <a:cs typeface="+mn-lt"/>
            </a:endParaRPr>
          </a:p>
          <a:p>
            <a:pPr marL="342900" indent="-342900">
              <a:buFont typeface="Arial" panose="020B0604020202020204" pitchFamily="34" charset="0"/>
              <a:buChar char="•"/>
            </a:pPr>
            <a:endParaRPr lang="en-US" sz="1400"/>
          </a:p>
        </p:txBody>
      </p:sp>
      <p:pic>
        <p:nvPicPr>
          <p:cNvPr id="2" name="Picture 1" descr="A pie chart with text&#10;&#10;Description automatically generated">
            <a:extLst>
              <a:ext uri="{FF2B5EF4-FFF2-40B4-BE49-F238E27FC236}">
                <a16:creationId xmlns:a16="http://schemas.microsoft.com/office/drawing/2014/main" id="{6EAFB7CF-56CF-343E-4E3B-223FD7A1B3BA}"/>
              </a:ext>
            </a:extLst>
          </p:cNvPr>
          <p:cNvPicPr>
            <a:picLocks noChangeAspect="1"/>
          </p:cNvPicPr>
          <p:nvPr/>
        </p:nvPicPr>
        <p:blipFill>
          <a:blip r:embed="rId2"/>
          <a:stretch>
            <a:fillRect/>
          </a:stretch>
        </p:blipFill>
        <p:spPr>
          <a:xfrm>
            <a:off x="6513001" y="2276009"/>
            <a:ext cx="4506742" cy="3076161"/>
          </a:xfrm>
          <a:prstGeom prst="rect">
            <a:avLst/>
          </a:prstGeom>
        </p:spPr>
      </p:pic>
    </p:spTree>
    <p:extLst>
      <p:ext uri="{BB962C8B-B14F-4D97-AF65-F5344CB8AC3E}">
        <p14:creationId xmlns:p14="http://schemas.microsoft.com/office/powerpoint/2010/main" val="3583029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4D7BC0-DA28-3551-068E-70B667FB225B}"/>
              </a:ext>
            </a:extLst>
          </p:cNvPr>
          <p:cNvSpPr txBox="1"/>
          <p:nvPr/>
        </p:nvSpPr>
        <p:spPr>
          <a:xfrm>
            <a:off x="572493" y="843712"/>
            <a:ext cx="10670920" cy="48997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fontScale="92500" lnSpcReduction="20000"/>
          </a:bodyPr>
          <a:lstStyle/>
          <a:p>
            <a:pPr>
              <a:lnSpc>
                <a:spcPct val="90000"/>
              </a:lnSpc>
              <a:spcBef>
                <a:spcPct val="0"/>
              </a:spcBef>
              <a:spcAft>
                <a:spcPts val="600"/>
              </a:spcAft>
            </a:pPr>
            <a:r>
              <a:rPr lang="en-US" sz="3600" b="1" dirty="0">
                <a:ea typeface="+mn-lt"/>
                <a:cs typeface="+mn-lt"/>
              </a:rPr>
              <a:t>Count of Tickets by Category over time</a:t>
            </a:r>
            <a:endParaRPr lang="en-US" sz="3600" b="1" dirty="0">
              <a:ea typeface="+mj-ea"/>
              <a:cs typeface="+mj-cs"/>
            </a:endParaRP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4C2DEDD-C914-3F96-30C3-F1741D50E84A}"/>
              </a:ext>
            </a:extLst>
          </p:cNvPr>
          <p:cNvSpPr>
            <a:spLocks noGrp="1"/>
          </p:cNvSpPr>
          <p:nvPr>
            <p:ph type="body" sz="half" idx="2"/>
          </p:nvPr>
        </p:nvSpPr>
        <p:spPr>
          <a:xfrm>
            <a:off x="436422" y="2470458"/>
            <a:ext cx="5071624" cy="3254364"/>
          </a:xfrm>
        </p:spPr>
        <p:txBody>
          <a:bodyPr vert="horz" lIns="91440" tIns="45720" rIns="91440" bIns="45720" rtlCol="0" anchor="t">
            <a:normAutofit/>
          </a:bodyPr>
          <a:lstStyle/>
          <a:p>
            <a:pPr>
              <a:buFont typeface="Arial" panose="020B0604020202020204" pitchFamily="34" charset="0"/>
              <a:buChar char="•"/>
            </a:pPr>
            <a:r>
              <a:rPr lang="en-US" sz="1400" dirty="0">
                <a:ea typeface="+mn-lt"/>
                <a:cs typeface="+mn-lt"/>
              </a:rPr>
              <a:t> System tickets have consistently been the most frequent type of ticket over the entire period shown.</a:t>
            </a:r>
            <a:endParaRPr lang="en-US" dirty="0">
              <a:ea typeface="+mn-lt"/>
              <a:cs typeface="+mn-lt"/>
            </a:endParaRPr>
          </a:p>
          <a:p>
            <a:endParaRPr lang="en-US" sz="1400" dirty="0">
              <a:ea typeface="+mn-lt"/>
              <a:cs typeface="+mn-lt"/>
            </a:endParaRPr>
          </a:p>
          <a:p>
            <a:pPr>
              <a:buFont typeface="Arial" panose="020B0604020202020204" pitchFamily="34" charset="0"/>
              <a:buChar char="•"/>
            </a:pPr>
            <a:r>
              <a:rPr lang="en-US" sz="1400" dirty="0">
                <a:ea typeface="+mn-lt"/>
                <a:cs typeface="+mn-lt"/>
              </a:rPr>
              <a:t> There is a significant upward trend in the number of software tickets. </a:t>
            </a:r>
          </a:p>
          <a:p>
            <a:endParaRPr lang="en-US" sz="1400" dirty="0">
              <a:ea typeface="+mn-lt"/>
              <a:cs typeface="+mn-lt"/>
            </a:endParaRPr>
          </a:p>
          <a:p>
            <a:pPr>
              <a:buFont typeface="Arial" panose="020B0604020202020204" pitchFamily="34" charset="0"/>
              <a:buChar char="•"/>
            </a:pPr>
            <a:r>
              <a:rPr lang="en-US" sz="1400" dirty="0">
                <a:ea typeface="+mn-lt"/>
                <a:cs typeface="+mn-lt"/>
              </a:rPr>
              <a:t> Hardware tickets have remained relatively stable over time. </a:t>
            </a:r>
          </a:p>
          <a:p>
            <a:endParaRPr lang="en-US" sz="1400" dirty="0">
              <a:ea typeface="+mn-lt"/>
              <a:cs typeface="+mn-lt"/>
            </a:endParaRPr>
          </a:p>
          <a:p>
            <a:pPr>
              <a:buFont typeface="Arial" panose="020B0604020202020204" pitchFamily="34" charset="0"/>
              <a:buChar char="•"/>
            </a:pPr>
            <a:r>
              <a:rPr lang="en-US" sz="1400" dirty="0">
                <a:ea typeface="+mn-lt"/>
                <a:cs typeface="+mn-lt"/>
              </a:rPr>
              <a:t> Login access tickets seem to have a slight upward trend, but they remain a relatively small portion of the overall tickets. </a:t>
            </a:r>
          </a:p>
          <a:p>
            <a:pPr marL="171450" indent="-228600">
              <a:buFont typeface="Arial" panose="020B0604020202020204" pitchFamily="34" charset="0"/>
              <a:buChar char="•"/>
            </a:pPr>
            <a:endParaRPr lang="en-US" sz="1400"/>
          </a:p>
        </p:txBody>
      </p:sp>
      <p:pic>
        <p:nvPicPr>
          <p:cNvPr id="2" name="Picture 1" descr="A graph of tickets by category over time&#10;&#10;Description automatically generated">
            <a:extLst>
              <a:ext uri="{FF2B5EF4-FFF2-40B4-BE49-F238E27FC236}">
                <a16:creationId xmlns:a16="http://schemas.microsoft.com/office/drawing/2014/main" id="{F9B9CE3A-1B08-2ADD-5169-74239EF17247}"/>
              </a:ext>
            </a:extLst>
          </p:cNvPr>
          <p:cNvPicPr>
            <a:picLocks noChangeAspect="1"/>
          </p:cNvPicPr>
          <p:nvPr/>
        </p:nvPicPr>
        <p:blipFill>
          <a:blip r:embed="rId2"/>
          <a:stretch>
            <a:fillRect/>
          </a:stretch>
        </p:blipFill>
        <p:spPr>
          <a:xfrm>
            <a:off x="6082241" y="2215316"/>
            <a:ext cx="5148989" cy="3303166"/>
          </a:xfrm>
          <a:prstGeom prst="rect">
            <a:avLst/>
          </a:prstGeom>
        </p:spPr>
      </p:pic>
    </p:spTree>
    <p:extLst>
      <p:ext uri="{BB962C8B-B14F-4D97-AF65-F5344CB8AC3E}">
        <p14:creationId xmlns:p14="http://schemas.microsoft.com/office/powerpoint/2010/main" val="2922291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AB4391F-D9F0-F01A-ABB8-386D3882741A}"/>
              </a:ext>
            </a:extLst>
          </p:cNvPr>
          <p:cNvSpPr txBox="1"/>
          <p:nvPr/>
        </p:nvSpPr>
        <p:spPr>
          <a:xfrm>
            <a:off x="572493" y="238539"/>
            <a:ext cx="10993120" cy="114654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dirty="0">
                <a:latin typeface="+mj-lt"/>
                <a:ea typeface="+mj-ea"/>
                <a:cs typeface="+mj-cs"/>
              </a:rPr>
              <a:t>Key Recommendations</a:t>
            </a:r>
          </a:p>
        </p:txBody>
      </p:sp>
      <p:sp>
        <p:nvSpPr>
          <p:cNvPr id="2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1D8EF0B-8FB3-8426-E6A5-0D547E192E1E}"/>
              </a:ext>
            </a:extLst>
          </p:cNvPr>
          <p:cNvSpPr>
            <a:spLocks noGrp="1"/>
          </p:cNvSpPr>
          <p:nvPr>
            <p:ph type="body" sz="half" idx="2"/>
          </p:nvPr>
        </p:nvSpPr>
        <p:spPr>
          <a:xfrm>
            <a:off x="572493" y="2400362"/>
            <a:ext cx="6180152" cy="3459925"/>
          </a:xfrm>
        </p:spPr>
        <p:txBody>
          <a:bodyPr vert="horz" lIns="91440" tIns="45720" rIns="91440" bIns="45720" rtlCol="0" anchor="t">
            <a:noAutofit/>
          </a:bodyPr>
          <a:lstStyle/>
          <a:p>
            <a:pPr indent="-228600">
              <a:buFont typeface="Arial" panose="020B0604020202020204" pitchFamily="34" charset="0"/>
              <a:buChar char="•"/>
            </a:pPr>
            <a:r>
              <a:rPr lang="en-US" sz="1400" dirty="0"/>
              <a:t>Conduct a detailed analysis of current agent workloads to determine whether if additional staff are required to handle the ticket volume more efficiently.</a:t>
            </a:r>
          </a:p>
          <a:p>
            <a:endParaRPr lang="en-US" sz="1400" dirty="0"/>
          </a:p>
          <a:p>
            <a:pPr indent="-228600">
              <a:buFont typeface="Arial" panose="020B0604020202020204" pitchFamily="34" charset="0"/>
              <a:buChar char="•"/>
            </a:pPr>
            <a:r>
              <a:rPr lang="en-US" sz="1400" dirty="0"/>
              <a:t>Consider targeted training or hiring specialized personnel to address these deficiencies.</a:t>
            </a:r>
          </a:p>
          <a:p>
            <a:endParaRPr lang="en-US" sz="1400" dirty="0"/>
          </a:p>
          <a:p>
            <a:pPr indent="-228600">
              <a:buFont typeface="Arial" panose="020B0604020202020204" pitchFamily="34" charset="0"/>
              <a:buChar char="•"/>
            </a:pPr>
            <a:r>
              <a:rPr lang="en-US" sz="1400" dirty="0"/>
              <a:t>Factor in the time and resources necessary for effectively training and onboarding new hires.</a:t>
            </a:r>
          </a:p>
          <a:p>
            <a:pPr indent="-228600">
              <a:buFont typeface="Arial" panose="020B0604020202020204" pitchFamily="34" charset="0"/>
              <a:buChar char="•"/>
            </a:pPr>
            <a:endParaRPr lang="en-US" sz="1400" dirty="0"/>
          </a:p>
          <a:p>
            <a:pPr indent="-228600">
              <a:buFont typeface="Arial" panose="020B0604020202020204" pitchFamily="34" charset="0"/>
              <a:buChar char="•"/>
            </a:pPr>
            <a:r>
              <a:rPr lang="en-US" sz="1400" dirty="0"/>
              <a:t>Investigate whether delays in ticket resolution are caused by limitations in IT infrastructure.</a:t>
            </a:r>
          </a:p>
          <a:p>
            <a:pPr indent="-228600">
              <a:buFont typeface="Arial" panose="020B0604020202020204" pitchFamily="34" charset="0"/>
              <a:buChar char="•"/>
            </a:pPr>
            <a:endParaRPr lang="en-US" sz="1400" dirty="0"/>
          </a:p>
        </p:txBody>
      </p:sp>
      <p:pic>
        <p:nvPicPr>
          <p:cNvPr id="6" name="Picture 5" descr="A paper with colorful graphs and numbers on it&#10;&#10;Description automatically generated">
            <a:extLst>
              <a:ext uri="{FF2B5EF4-FFF2-40B4-BE49-F238E27FC236}">
                <a16:creationId xmlns:a16="http://schemas.microsoft.com/office/drawing/2014/main" id="{F2CFB60E-564D-B5AA-6868-E6BBE75714A1}"/>
              </a:ext>
            </a:extLst>
          </p:cNvPr>
          <p:cNvPicPr>
            <a:picLocks noChangeAspect="1"/>
          </p:cNvPicPr>
          <p:nvPr/>
        </p:nvPicPr>
        <p:blipFill>
          <a:blip r:embed="rId2">
            <a:extLst>
              <a:ext uri="{837473B0-CC2E-450A-ABE3-18F120FF3D39}">
                <a1611:picAttrSrcUrl xmlns:a1611="http://schemas.microsoft.com/office/drawing/2016/11/main" r:id="rId3"/>
              </a:ext>
            </a:extLst>
          </a:blip>
          <a:srcRect r="36266" b="3"/>
          <a:stretch/>
        </p:blipFill>
        <p:spPr>
          <a:xfrm>
            <a:off x="7866158" y="2401854"/>
            <a:ext cx="3517731" cy="3044722"/>
          </a:xfrm>
          <a:prstGeom prst="rect">
            <a:avLst/>
          </a:prstGeom>
        </p:spPr>
      </p:pic>
    </p:spTree>
    <p:extLst>
      <p:ext uri="{BB962C8B-B14F-4D97-AF65-F5344CB8AC3E}">
        <p14:creationId xmlns:p14="http://schemas.microsoft.com/office/powerpoint/2010/main" val="1926410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BC71A9-386A-DE80-EC36-8A3499207DDC}"/>
              </a:ext>
            </a:extLst>
          </p:cNvPr>
          <p:cNvSpPr>
            <a:spLocks noGrp="1"/>
          </p:cNvSpPr>
          <p:nvPr>
            <p:ph type="title"/>
          </p:nvPr>
        </p:nvSpPr>
        <p:spPr>
          <a:xfrm>
            <a:off x="838200" y="492125"/>
            <a:ext cx="10058400" cy="1198563"/>
          </a:xfrm>
        </p:spPr>
        <p:txBody>
          <a:bodyPr>
            <a:normAutofit/>
          </a:bodyPr>
          <a:lstStyle/>
          <a:p>
            <a:r>
              <a:rPr lang="en-US" sz="4000" b="1" dirty="0">
                <a:latin typeface="Aptos"/>
              </a:rPr>
              <a:t>Key Visualizations and Features</a:t>
            </a:r>
            <a:endParaRPr lang="en-US" sz="4000" dirty="0"/>
          </a:p>
        </p:txBody>
      </p:sp>
      <p:sp>
        <p:nvSpPr>
          <p:cNvPr id="7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58A21A-6A3D-5AA5-C2B6-A4C55AABF521}"/>
              </a:ext>
            </a:extLst>
          </p:cNvPr>
          <p:cNvSpPr>
            <a:spLocks noGrp="1"/>
          </p:cNvSpPr>
          <p:nvPr>
            <p:ph idx="1"/>
          </p:nvPr>
        </p:nvSpPr>
        <p:spPr>
          <a:xfrm>
            <a:off x="838200" y="2293451"/>
            <a:ext cx="10168467" cy="3439161"/>
          </a:xfrm>
        </p:spPr>
        <p:txBody>
          <a:bodyPr vert="horz" lIns="91440" tIns="45720" rIns="91440" bIns="45720" rtlCol="0" anchor="t">
            <a:normAutofit lnSpcReduction="10000"/>
          </a:bodyPr>
          <a:lstStyle/>
          <a:p>
            <a:r>
              <a:rPr lang="en-US" sz="1400" dirty="0">
                <a:ea typeface="+mn-lt"/>
                <a:cs typeface="+mn-lt"/>
              </a:rPr>
              <a:t>Totally 97,494 tickets were processed.</a:t>
            </a:r>
            <a:endParaRPr lang="en-US" sz="1400" b="1" dirty="0">
              <a:ea typeface="+mn-lt"/>
              <a:cs typeface="+mn-lt"/>
            </a:endParaRPr>
          </a:p>
          <a:p>
            <a:endParaRPr lang="en-US" sz="1400" dirty="0">
              <a:ea typeface="+mn-lt"/>
              <a:cs typeface="+mn-lt"/>
            </a:endParaRPr>
          </a:p>
          <a:p>
            <a:r>
              <a:rPr lang="en-US" sz="1400" dirty="0">
                <a:ea typeface="+mn-lt"/>
                <a:cs typeface="+mn-lt"/>
              </a:rPr>
              <a:t> System tickets are the most frequent, followed by Software, Login Access, and Hardware.</a:t>
            </a:r>
          </a:p>
          <a:p>
            <a:endParaRPr lang="en-US" sz="1400" dirty="0">
              <a:ea typeface="+mn-lt"/>
              <a:cs typeface="+mn-lt"/>
            </a:endParaRPr>
          </a:p>
          <a:p>
            <a:r>
              <a:rPr lang="en-US" sz="1400" dirty="0">
                <a:ea typeface="+mn-lt"/>
                <a:cs typeface="+mn-lt"/>
              </a:rPr>
              <a:t>Low priority tickets dominate, with high priority tickets being the least common.</a:t>
            </a:r>
          </a:p>
          <a:p>
            <a:endParaRPr lang="en-US" sz="1400" dirty="0">
              <a:ea typeface="+mn-lt"/>
              <a:cs typeface="+mn-lt"/>
            </a:endParaRPr>
          </a:p>
          <a:p>
            <a:r>
              <a:rPr lang="en-US" sz="1400" dirty="0">
                <a:ea typeface="+mn-lt"/>
                <a:cs typeface="+mn-lt"/>
              </a:rPr>
              <a:t> Hardware tickets take the longest to resolve, while Login Access tickets have the quickest resolution time.</a:t>
            </a:r>
          </a:p>
          <a:p>
            <a:endParaRPr lang="en-US" sz="1400" dirty="0">
              <a:ea typeface="+mn-lt"/>
              <a:cs typeface="+mn-lt"/>
            </a:endParaRPr>
          </a:p>
          <a:p>
            <a:r>
              <a:rPr lang="en-US" sz="1400" b="1" dirty="0">
                <a:ea typeface="+mn-lt"/>
                <a:cs typeface="+mn-lt"/>
              </a:rPr>
              <a:t> </a:t>
            </a:r>
            <a:r>
              <a:rPr lang="en-US" sz="1400" dirty="0">
                <a:ea typeface="+mn-lt"/>
                <a:cs typeface="+mn-lt"/>
              </a:rPr>
              <a:t>The majority of tickets are classified as "Normal" severity, followed by "Urgent" and "Major"</a:t>
            </a:r>
            <a:endParaRPr lang="en-US" sz="1400" dirty="0"/>
          </a:p>
          <a:p>
            <a:endParaRPr lang="en-US" sz="1400" dirty="0">
              <a:ea typeface="+mn-lt"/>
              <a:cs typeface="+mn-lt"/>
            </a:endParaRPr>
          </a:p>
          <a:p>
            <a:r>
              <a:rPr lang="en-US" sz="1400" dirty="0">
                <a:ea typeface="+mn-lt"/>
                <a:cs typeface="+mn-lt"/>
              </a:rPr>
              <a:t> Satisfaction rates are relatively consistent across all age groups.</a:t>
            </a:r>
            <a:endParaRPr lang="en-US" sz="1400" dirty="0"/>
          </a:p>
          <a:p>
            <a:endParaRPr lang="en-US" sz="1400" dirty="0"/>
          </a:p>
          <a:p>
            <a:pPr marL="0" indent="0">
              <a:buNone/>
            </a:pPr>
            <a:endParaRPr lang="en-US" sz="1400" dirty="0">
              <a:ea typeface="+mn-lt"/>
              <a:cs typeface="+mn-lt"/>
            </a:endParaRPr>
          </a:p>
          <a:p>
            <a:endParaRPr lang="en-US" sz="1400" dirty="0">
              <a:ea typeface="+mn-lt"/>
              <a:cs typeface="+mn-lt"/>
            </a:endParaRPr>
          </a:p>
        </p:txBody>
      </p:sp>
    </p:spTree>
    <p:extLst>
      <p:ext uri="{BB962C8B-B14F-4D97-AF65-F5344CB8AC3E}">
        <p14:creationId xmlns:p14="http://schemas.microsoft.com/office/powerpoint/2010/main" val="328636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74B350-CB59-9371-648B-3C430BB5388F}"/>
              </a:ext>
            </a:extLst>
          </p:cNvPr>
          <p:cNvSpPr>
            <a:spLocks noGrp="1"/>
          </p:cNvSpPr>
          <p:nvPr>
            <p:ph type="title"/>
          </p:nvPr>
        </p:nvSpPr>
        <p:spPr>
          <a:xfrm>
            <a:off x="572493" y="592324"/>
            <a:ext cx="10984654" cy="712331"/>
          </a:xfrm>
        </p:spPr>
        <p:txBody>
          <a:bodyPr anchor="b">
            <a:normAutofit/>
          </a:bodyPr>
          <a:lstStyle/>
          <a:p>
            <a:r>
              <a:rPr lang="en-US" sz="4000" b="1" dirty="0"/>
              <a:t>Conclusion</a:t>
            </a:r>
          </a:p>
        </p:txBody>
      </p:sp>
      <p:sp>
        <p:nvSpPr>
          <p:cNvPr id="2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EC9E1397-CF65-2C8F-9F63-9DCBF08712BA}"/>
              </a:ext>
            </a:extLst>
          </p:cNvPr>
          <p:cNvSpPr>
            <a:spLocks noGrp="1"/>
          </p:cNvSpPr>
          <p:nvPr>
            <p:ph idx="1"/>
          </p:nvPr>
        </p:nvSpPr>
        <p:spPr>
          <a:xfrm>
            <a:off x="572493" y="2032748"/>
            <a:ext cx="6713552" cy="3861407"/>
          </a:xfrm>
        </p:spPr>
        <p:txBody>
          <a:bodyPr vert="horz" lIns="91440" tIns="45720" rIns="91440" bIns="45720" rtlCol="0" anchor="t">
            <a:noAutofit/>
          </a:bodyPr>
          <a:lstStyle/>
          <a:p>
            <a:pPr marL="0" indent="0">
              <a:buNone/>
            </a:pPr>
            <a:endParaRPr lang="en-US" sz="1400" b="1" dirty="0"/>
          </a:p>
          <a:p>
            <a:r>
              <a:rPr lang="en-US" sz="1400" dirty="0">
                <a:ea typeface="+mn-lt"/>
                <a:cs typeface="+mn-lt"/>
              </a:rPr>
              <a:t>Most tickets fall under the Software and Hardware categories, with a high percentage of tickets being unassigned or low priority.</a:t>
            </a:r>
          </a:p>
          <a:p>
            <a:endParaRPr lang="en-US" sz="1400" dirty="0">
              <a:ea typeface="+mn-lt"/>
              <a:cs typeface="+mn-lt"/>
            </a:endParaRPr>
          </a:p>
          <a:p>
            <a:r>
              <a:rPr lang="en-US" sz="1400" dirty="0">
                <a:ea typeface="+mn-lt"/>
                <a:cs typeface="+mn-lt"/>
              </a:rPr>
              <a:t>Agents across different age groups show varied performance, with the 28-32 age group resolving the most tickets.</a:t>
            </a:r>
            <a:endParaRPr lang="en-US"/>
          </a:p>
          <a:p>
            <a:endParaRPr lang="en-US" sz="1400" dirty="0">
              <a:ea typeface="+mn-lt"/>
              <a:cs typeface="+mn-lt"/>
            </a:endParaRPr>
          </a:p>
          <a:p>
            <a:r>
              <a:rPr lang="en-US" sz="1400" dirty="0">
                <a:ea typeface="+mn-lt"/>
                <a:cs typeface="+mn-lt"/>
              </a:rPr>
              <a:t>Satisfaction rates remain stable, but mid-week shows slightly faster resolution times. This suggests opportunities for optimizing agent shifts and response times during peak days.</a:t>
            </a:r>
            <a:endParaRPr lang="en-US" sz="1400"/>
          </a:p>
          <a:p>
            <a:endParaRPr lang="en-US" sz="1400" b="1" dirty="0"/>
          </a:p>
          <a:p>
            <a:r>
              <a:rPr lang="en-US" sz="1400" dirty="0">
                <a:ea typeface="+mn-lt"/>
                <a:cs typeface="+mn-lt"/>
              </a:rPr>
              <a:t>Customer satisfaction rates have consistently improved over the years, signaling progress but also areas for continuous development.</a:t>
            </a:r>
            <a:br>
              <a:rPr lang="en-US" sz="1400" dirty="0">
                <a:ea typeface="+mn-lt"/>
                <a:cs typeface="+mn-lt"/>
              </a:rPr>
            </a:br>
            <a:br>
              <a:rPr lang="en-US" sz="1400" dirty="0">
                <a:ea typeface="+mn-lt"/>
                <a:cs typeface="+mn-lt"/>
              </a:rPr>
            </a:br>
            <a:endParaRPr lang="en-US" sz="1400" b="1" dirty="0"/>
          </a:p>
          <a:p>
            <a:pPr marL="0" indent="0">
              <a:buNone/>
            </a:pPr>
            <a:endParaRPr lang="en-US" sz="1400" dirty="0">
              <a:ea typeface="+mn-lt"/>
              <a:cs typeface="+mn-lt"/>
            </a:endParaRPr>
          </a:p>
          <a:p>
            <a:pPr marL="0" indent="0">
              <a:buNone/>
            </a:pPr>
            <a:endParaRPr lang="en-US" sz="1400" dirty="0"/>
          </a:p>
          <a:p>
            <a:endParaRPr lang="en-US" sz="1400" dirty="0"/>
          </a:p>
        </p:txBody>
      </p:sp>
      <p:pic>
        <p:nvPicPr>
          <p:cNvPr id="4" name="Content Placeholder 3" descr="Reports Clipart Clip Art Library - vrogue.co">
            <a:extLst>
              <a:ext uri="{FF2B5EF4-FFF2-40B4-BE49-F238E27FC236}">
                <a16:creationId xmlns:a16="http://schemas.microsoft.com/office/drawing/2014/main" id="{A3A68988-E1F5-747C-3FDC-AA6014788251}"/>
              </a:ext>
            </a:extLst>
          </p:cNvPr>
          <p:cNvPicPr>
            <a:picLocks noChangeAspect="1"/>
          </p:cNvPicPr>
          <p:nvPr/>
        </p:nvPicPr>
        <p:blipFill>
          <a:blip r:embed="rId2"/>
          <a:srcRect l="2603" t="-79" r="3037" b="8628"/>
          <a:stretch/>
        </p:blipFill>
        <p:spPr>
          <a:xfrm>
            <a:off x="7603087" y="2290322"/>
            <a:ext cx="3944249" cy="3746164"/>
          </a:xfrm>
          <a:prstGeom prst="rect">
            <a:avLst/>
          </a:prstGeom>
        </p:spPr>
      </p:pic>
    </p:spTree>
    <p:extLst>
      <p:ext uri="{BB962C8B-B14F-4D97-AF65-F5344CB8AC3E}">
        <p14:creationId xmlns:p14="http://schemas.microsoft.com/office/powerpoint/2010/main" val="3999493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40DC17-C335-3EF9-4870-68AA1ACDA2AD}"/>
              </a:ext>
            </a:extLst>
          </p:cNvPr>
          <p:cNvSpPr>
            <a:spLocks noGrp="1"/>
          </p:cNvSpPr>
          <p:nvPr>
            <p:ph type="title"/>
          </p:nvPr>
        </p:nvSpPr>
        <p:spPr>
          <a:xfrm>
            <a:off x="572493" y="238539"/>
            <a:ext cx="10991306" cy="1262058"/>
          </a:xfrm>
        </p:spPr>
        <p:txBody>
          <a:bodyPr anchor="b">
            <a:normAutofit/>
          </a:bodyPr>
          <a:lstStyle/>
          <a:p>
            <a:r>
              <a:rPr lang="en-US" sz="4000" b="1" dirty="0"/>
              <a:t>References</a:t>
            </a:r>
          </a:p>
        </p:txBody>
      </p:sp>
      <p:sp>
        <p:nvSpPr>
          <p:cNvPr id="3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0D6EBC-9C81-FC15-ECFD-E43CBC0607E3}"/>
              </a:ext>
            </a:extLst>
          </p:cNvPr>
          <p:cNvSpPr>
            <a:spLocks noGrp="1"/>
          </p:cNvSpPr>
          <p:nvPr>
            <p:ph idx="1"/>
          </p:nvPr>
        </p:nvSpPr>
        <p:spPr>
          <a:xfrm>
            <a:off x="572493" y="2071316"/>
            <a:ext cx="6713552" cy="4119172"/>
          </a:xfrm>
        </p:spPr>
        <p:txBody>
          <a:bodyPr vert="horz" lIns="91440" tIns="45720" rIns="91440" bIns="45720" rtlCol="0" anchor="t">
            <a:normAutofit lnSpcReduction="10000"/>
          </a:bodyPr>
          <a:lstStyle/>
          <a:p>
            <a:pPr marL="0" indent="0">
              <a:buNone/>
            </a:pPr>
            <a:endParaRPr lang="en-US" sz="1400" b="1"/>
          </a:p>
          <a:p>
            <a:r>
              <a:rPr lang="en-US" sz="1400" b="1" dirty="0">
                <a:ea typeface="+mn-lt"/>
                <a:cs typeface="+mn-lt"/>
              </a:rPr>
              <a:t>Data Source:</a:t>
            </a:r>
            <a:r>
              <a:rPr lang="en-US" sz="1400" dirty="0">
                <a:ea typeface="+mn-lt"/>
                <a:cs typeface="+mn-lt"/>
              </a:rPr>
              <a:t> IT Ticket System, IT Ticket Tracking Database</a:t>
            </a:r>
            <a:endParaRPr lang="en-US" sz="1400" dirty="0"/>
          </a:p>
          <a:p>
            <a:endParaRPr lang="en-US" sz="1400" dirty="0">
              <a:ea typeface="+mn-lt"/>
              <a:cs typeface="+mn-lt"/>
            </a:endParaRPr>
          </a:p>
          <a:p>
            <a:r>
              <a:rPr lang="en-US" sz="1400" b="1" dirty="0">
                <a:ea typeface="+mn-lt"/>
                <a:cs typeface="+mn-lt"/>
              </a:rPr>
              <a:t>External Assistance:</a:t>
            </a:r>
            <a:br>
              <a:rPr lang="en-US" sz="1400" dirty="0">
                <a:ea typeface="+mn-lt"/>
                <a:cs typeface="+mn-lt"/>
              </a:rPr>
            </a:br>
            <a:br>
              <a:rPr lang="en-US" sz="1400" dirty="0">
                <a:ea typeface="+mn-lt"/>
                <a:cs typeface="+mn-lt"/>
              </a:rPr>
            </a:br>
            <a:r>
              <a:rPr lang="en-US" sz="1400" dirty="0">
                <a:hlinkClick r:id="rId2"/>
              </a:rPr>
              <a:t>A System for ticket analysis and resolution by IBM</a:t>
            </a:r>
            <a:r>
              <a:rPr lang="en-US" sz="1400" dirty="0"/>
              <a:t> </a:t>
            </a:r>
          </a:p>
          <a:p>
            <a:endParaRPr lang="en-US" sz="1400" dirty="0">
              <a:ea typeface="+mn-lt"/>
              <a:cs typeface="+mn-lt"/>
            </a:endParaRPr>
          </a:p>
          <a:p>
            <a:r>
              <a:rPr lang="en-US" sz="1400" b="1" dirty="0">
                <a:ea typeface="+mn-lt"/>
                <a:cs typeface="+mn-lt"/>
              </a:rPr>
              <a:t>ITIL Framework:</a:t>
            </a:r>
            <a:r>
              <a:rPr lang="en-US" sz="1400" dirty="0">
                <a:ea typeface="+mn-lt"/>
                <a:cs typeface="+mn-lt"/>
              </a:rPr>
              <a:t> ITIL Foundation</a:t>
            </a:r>
            <a:endParaRPr lang="en-US" sz="1400">
              <a:ea typeface="+mn-lt"/>
              <a:cs typeface="+mn-lt"/>
            </a:endParaRPr>
          </a:p>
          <a:p>
            <a:endParaRPr lang="en-US" sz="1400" dirty="0"/>
          </a:p>
          <a:p>
            <a:r>
              <a:rPr lang="en-US" sz="1400" b="1" dirty="0">
                <a:ea typeface="+mn-lt"/>
                <a:cs typeface="+mn-lt"/>
              </a:rPr>
              <a:t>Data Analysis Tools:</a:t>
            </a:r>
            <a:r>
              <a:rPr lang="en-US" sz="1400" dirty="0">
                <a:ea typeface="+mn-lt"/>
                <a:cs typeface="+mn-lt"/>
              </a:rPr>
              <a:t> Excel, Google Sheets</a:t>
            </a:r>
            <a:endParaRPr lang="en-US" sz="1400" dirty="0"/>
          </a:p>
          <a:p>
            <a:endParaRPr lang="en-US" sz="1400" dirty="0">
              <a:ea typeface="+mn-lt"/>
              <a:cs typeface="+mn-lt"/>
            </a:endParaRPr>
          </a:p>
          <a:p>
            <a:r>
              <a:rPr lang="en-US" sz="1400" b="1" dirty="0">
                <a:ea typeface="+mn-lt"/>
                <a:cs typeface="+mn-lt"/>
              </a:rPr>
              <a:t>Statistical Methods:</a:t>
            </a:r>
            <a:r>
              <a:rPr lang="en-US" sz="1400" dirty="0">
                <a:ea typeface="+mn-lt"/>
                <a:cs typeface="+mn-lt"/>
              </a:rPr>
              <a:t> Descriptive statistics, regression analysis</a:t>
            </a:r>
            <a:endParaRPr lang="en-US" sz="1400"/>
          </a:p>
          <a:p>
            <a:endParaRPr lang="en-US" sz="1400" dirty="0">
              <a:ea typeface="+mn-lt"/>
              <a:cs typeface="+mn-lt"/>
            </a:endParaRPr>
          </a:p>
          <a:p>
            <a:r>
              <a:rPr lang="en-US" sz="1400" b="1" dirty="0">
                <a:ea typeface="+mn-lt"/>
                <a:cs typeface="+mn-lt"/>
              </a:rPr>
              <a:t>Case Studies:</a:t>
            </a:r>
            <a:r>
              <a:rPr lang="en-US" sz="1400" dirty="0">
                <a:ea typeface="+mn-lt"/>
                <a:cs typeface="+mn-lt"/>
              </a:rPr>
              <a:t> "Improving IT Support Efficiency," Journal of IT Management, 2023</a:t>
            </a:r>
            <a:endParaRPr lang="en-US" sz="1400"/>
          </a:p>
          <a:p>
            <a:endParaRPr lang="en-US" sz="1400"/>
          </a:p>
        </p:txBody>
      </p:sp>
      <p:pic>
        <p:nvPicPr>
          <p:cNvPr id="4" name="Picture 3" descr="A group of people standing next to a computer screen&#10;&#10;Description automatically generated">
            <a:extLst>
              <a:ext uri="{FF2B5EF4-FFF2-40B4-BE49-F238E27FC236}">
                <a16:creationId xmlns:a16="http://schemas.microsoft.com/office/drawing/2014/main" id="{21613473-7239-3F09-AB80-0D2B07A41537}"/>
              </a:ext>
            </a:extLst>
          </p:cNvPr>
          <p:cNvPicPr>
            <a:picLocks noChangeAspect="1"/>
          </p:cNvPicPr>
          <p:nvPr/>
        </p:nvPicPr>
        <p:blipFill>
          <a:blip r:embed="rId3"/>
          <a:srcRect l="5075" t="-512" r="4084"/>
          <a:stretch/>
        </p:blipFill>
        <p:spPr>
          <a:xfrm>
            <a:off x="7281187" y="2325792"/>
            <a:ext cx="4272245" cy="3348747"/>
          </a:xfrm>
          <a:prstGeom prst="rect">
            <a:avLst/>
          </a:prstGeom>
        </p:spPr>
      </p:pic>
    </p:spTree>
    <p:extLst>
      <p:ext uri="{BB962C8B-B14F-4D97-AF65-F5344CB8AC3E}">
        <p14:creationId xmlns:p14="http://schemas.microsoft.com/office/powerpoint/2010/main" val="3425585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A22568-C3B9-4479-7FAE-546C414F717C}"/>
              </a:ext>
            </a:extLst>
          </p:cNvPr>
          <p:cNvSpPr/>
          <p:nvPr/>
        </p:nvSpPr>
        <p:spPr>
          <a:xfrm>
            <a:off x="237671" y="-88898"/>
            <a:ext cx="11950698" cy="67854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8E45E8A-AB5C-BD66-B020-E0CB652C5A53}"/>
              </a:ext>
            </a:extLst>
          </p:cNvPr>
          <p:cNvSpPr txBox="1"/>
          <p:nvPr/>
        </p:nvSpPr>
        <p:spPr>
          <a:xfrm>
            <a:off x="492760" y="381000"/>
            <a:ext cx="108762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t>Dashboard Overview</a:t>
            </a:r>
          </a:p>
        </p:txBody>
      </p:sp>
      <p:pic>
        <p:nvPicPr>
          <p:cNvPr id="2" name="Picture 1" descr="A screenshot of a computer screen&#10;&#10;AI-generated content may be incorrect.">
            <a:extLst>
              <a:ext uri="{FF2B5EF4-FFF2-40B4-BE49-F238E27FC236}">
                <a16:creationId xmlns:a16="http://schemas.microsoft.com/office/drawing/2014/main" id="{B7739C2A-62F7-6BA2-D600-2E380065F9B1}"/>
              </a:ext>
            </a:extLst>
          </p:cNvPr>
          <p:cNvPicPr>
            <a:picLocks noChangeAspect="1"/>
          </p:cNvPicPr>
          <p:nvPr/>
        </p:nvPicPr>
        <p:blipFill>
          <a:blip r:embed="rId2"/>
          <a:stretch>
            <a:fillRect/>
          </a:stretch>
        </p:blipFill>
        <p:spPr>
          <a:xfrm>
            <a:off x="489857" y="1164253"/>
            <a:ext cx="11466285" cy="5319634"/>
          </a:xfrm>
          <a:prstGeom prst="rect">
            <a:avLst/>
          </a:prstGeom>
        </p:spPr>
      </p:pic>
    </p:spTree>
    <p:extLst>
      <p:ext uri="{BB962C8B-B14F-4D97-AF65-F5344CB8AC3E}">
        <p14:creationId xmlns:p14="http://schemas.microsoft.com/office/powerpoint/2010/main" val="3252292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038735C-8DB0-63F5-5452-CAC511D536F8}"/>
              </a:ext>
            </a:extLst>
          </p:cNvPr>
          <p:cNvSpPr txBox="1"/>
          <p:nvPr/>
        </p:nvSpPr>
        <p:spPr>
          <a:xfrm>
            <a:off x="970908" y="1220919"/>
            <a:ext cx="5425781" cy="23876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6000" b="1" dirty="0">
                <a:latin typeface="+mj-lt"/>
                <a:ea typeface="+mj-ea"/>
                <a:cs typeface="+mj-cs"/>
              </a:rPr>
              <a:t>Thank</a:t>
            </a:r>
            <a:r>
              <a:rPr lang="en-US" sz="6000" b="1" kern="1200" dirty="0">
                <a:latin typeface="+mj-lt"/>
                <a:ea typeface="+mj-ea"/>
                <a:cs typeface="+mj-cs"/>
              </a:rPr>
              <a:t> </a:t>
            </a:r>
            <a:r>
              <a:rPr lang="en-US" sz="6000" b="1" dirty="0">
                <a:latin typeface="+mj-lt"/>
                <a:ea typeface="+mj-ea"/>
                <a:cs typeface="+mj-cs"/>
              </a:rPr>
              <a:t>You</a:t>
            </a:r>
            <a:endParaRPr lang="en-US" sz="6000" b="1" kern="1200" dirty="0">
              <a:latin typeface="+mj-lt"/>
              <a:ea typeface="+mj-ea"/>
              <a:cs typeface="+mj-cs"/>
            </a:endParaRPr>
          </a:p>
        </p:txBody>
      </p:sp>
      <p:sp>
        <p:nvSpPr>
          <p:cNvPr id="9" name="Freeform: Shape 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Block Arc 1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Shape 1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7" name="Straight Connector 1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Arc 2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4977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IT Tickets Analysis</vt:lpstr>
      <vt:lpstr>Problem Statement</vt:lpstr>
      <vt:lpstr>Did you know that Companies that invest in efficient IT ticketing systems see a 25% reduction in downtime and faster problem resolution.</vt:lpstr>
      <vt:lpstr>Data overview</vt:lpstr>
      <vt:lpstr>Objectives</vt:lpstr>
      <vt:lpstr>PowerPoint Presentation</vt:lpstr>
      <vt:lpstr>Comprehensive Approach  </vt:lpstr>
      <vt:lpstr>Average satisfaction rate by age group </vt:lpstr>
      <vt:lpstr>Count of tickets by category</vt:lpstr>
      <vt:lpstr>Count of Tickets by Severity </vt:lpstr>
      <vt:lpstr>PowerPoint Presentation</vt:lpstr>
      <vt:lpstr>Ticket Volume Over Time</vt:lpstr>
      <vt:lpstr>Average resolution time for each category</vt:lpstr>
      <vt:lpstr>PowerPoint Presentation</vt:lpstr>
      <vt:lpstr>PowerPoint Presentation</vt:lpstr>
      <vt:lpstr>PowerPoint Presentation</vt:lpstr>
      <vt:lpstr>Key Visualizations and Features</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393</cp:revision>
  <dcterms:created xsi:type="dcterms:W3CDTF">2024-10-20T20:44:20Z</dcterms:created>
  <dcterms:modified xsi:type="dcterms:W3CDTF">2025-01-22T16:56:32Z</dcterms:modified>
</cp:coreProperties>
</file>